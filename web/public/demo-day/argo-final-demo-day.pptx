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name is Konrad, this is Argo, and the title of this talk is the same one I am taking to Devcon in Mumbai. Photoshop for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most of history you could get by on what you knew. That era is closing. When everyone has the same models and the same answers on tap, the only differences left are the quality of your ideas and your ability to express them. That is not a soft skill any more, that is the whole game, and almost nobody is training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the fifteen second clip, then: Winston ran the MIT Artificial Intelligence Laboratory. He spent his life on machine intelligence and this is what he told his students mattered most. Speak, write, ideas, in that order. In the age of AI he is more right, because those three are the only things that do not come out of the box.
STILL MISSING: Winston clip trimmed to 0:38-0:53 and level matched.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middle rung of d/acc. The variable being optimised is not model capability, it is loop tightness. Same model, different number of turns. One shot prompt and generate is the replacement pattern. Real time collaboration is the augmentation pattern. Look at the mechanisms he named. All hardware, all years out, all measured in milliseconds of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made the Photoshop argument about images and never carried it to language. That is the gap I am building in. A daily writing loop is a feedback loop between a human and an AI that exists now, needs no implant, and runs on the interfaces everybody already has, text and voice. And language is the harder case, because with an image the artefact is the point, while with writing the artefact is a by product. The compression of thought is the cognition. Delegate the drawing and you lose a picture you did not make. Delegate the writing and you skip the step that was doing the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write or you just talk, and an AI companion that has read every entry you have ever made reads it back to you. A summary, the insights, the questions you should be asking yourself, and the connection to the thing you wrote eight months ago and forgot. They all kept a notebook. None of them had one that remembered.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nothing during the film. After it, one line: that launched on August 7th.
STILL MISSING: The 30 second launch film. Scripted in launch-ad/, not yet shot or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moves only, narrated while doing them. One, I talk, no blank page and no typing, and the word count climbs to seven hundred and fifty. Two, it comes back with what I actually said, tightened, plus the questions I should be asking myself, and it surfaces an entry from months ago on the same theme that I had genuinely forgotten writing. Three, every completed day adds a star, placed by the meaning of my words. That is my Soul.
STILL MISSING: Live device mirror. These stills are the fallback if the phone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are about to put the most honest thing you have ever written into an app, so the privacy cannot be a policy, it has to be architecture. Encrypted on your device with a key that only exists on your device. Our servers hold ciphertext. The whole thing is open source so you can read it rather than trust me. The journal AI runs confidential inference on Morpheus. Voice latency currently routes through a separate provider and moving it back is on the roadmap, and I would rather say that here than be asked it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day you complete the human side of the loop, one star records it. It is soulbound on Base mainnet, so it cannot be bought, sold, or transferred. That makes it the thing the internet is short of right now, proof of a human who actually showed up over time. It is not a bolt on identity feature. It is the receipt for having run the d/acc loop for a year. Bots can fake a profile. They cannot fake a year of your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part I actually want to be judged on. Jim Collins wrote about the flywheel in Good to Great. You do not get momentum from one big push, you get it from pushing the same wheel in the same direction until it turns itself. I am not buying users. I built a flywheel and every part of my life is a spoke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the podcast, on creativity, technology, and spirituality, and in every single episode I describe the app and ask the guest what they think of it. Two, a holistic creativity and STEM class for kids where we draw, journal, and teach each other a concept, and every family in the class gets a subscription. Three, an AI power users course for adults, free online to fill the funnel and paid in person, run in Singapore and now Cambodia, where people who just spent two hours learning to work with AI are exactly the people who understand why a private one matters. Four, the community, because a subscription is not an app, it is a membership. And all four turn into content, which feeds all four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is it turning. Read the five numbers off the slide, one sentence each, and say only what you can defend in question time. Every one of these came from the wheel and not from ad spend.
STILL MISSING: Every figure on this slide. Pull from the platform dashboards and App Store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on the record. One guest called it training for keeping your mind sharp. Another said private AI you can actually trust is the thing they had been waiting for. The parents keep telling me the same thing, which is that their kids love it. Every episode is a distribution channel and a testimonial at the same time.
STILL MISSING: Verbatim quotes, guest names and exact titles, and permission to show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Vitalik argues the augmentation path is not just the nicer option, it is the safer one, and the mechanism is economic rather than technical. Keeping a human in every loop removes the incentive to hand over the planning. An AI that never writes for you keeps you in every loop by construction, so that incentive never forms. That is the whole argument, and it is why the app is built the way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Argo is live on iOS, there is a web portal, it is open source, the encryption is real, the journal AI is confidential, and the Soul is on Base mainnet today. Not a prototype. You can use it tonight. The reason I am confident is not the app, it is that I built a machine that feeds it and it is already turning. Then the ask, as one specific sentence, then stop talking.
STILL MISSING: THE ASK. One specific sentence. The single most important missing line in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image" Target="../media/image-12-2.jpg"/><Relationship Id="rId3" Type="http://schemas.openxmlformats.org/officeDocument/2006/relationships/image" Target="../media/image-12-3.jpg"/><Relationship Id="rId4" Type="http://schemas.openxmlformats.org/officeDocument/2006/relationships/image" Target="../media/image-12-4.jp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30E"/>
        </a:solidFill>
      </p:bgPr>
    </p:bg>
    <p:spTree>
      <p:nvGrpSpPr>
        <p:cNvPr id="1" name=""/>
        <p:cNvGrpSpPr/>
        <p:nvPr/>
      </p:nvGrpSpPr>
      <p:grpSpPr>
        <a:xfrm>
          <a:off x="0" y="0"/>
          <a:ext cx="0" cy="0"/>
          <a:chOff x="0" y="0"/>
          <a:chExt cx="0" cy="0"/>
        </a:xfrm>
      </p:grpSpPr>
      <p:pic>
        <p:nvPicPr>
          <p:cNvPr id="2" name="Image 0" descr="/Users/konradgnat/dev/startups/luminalog/luminalog-oss/web/public/demo-day/argo-emblem.png">    </p:cNvPr>
          <p:cNvPicPr>
            <a:picLocks noChangeAspect="1"/>
          </p:cNvPicPr>
          <p:nvPr/>
        </p:nvPicPr>
        <p:blipFill>
          <a:blip r:embed="rId1"/>
          <a:stretch>
            <a:fillRect/>
          </a:stretch>
        </p:blipFill>
        <p:spPr>
          <a:xfrm>
            <a:off x="4178350" y="1300163"/>
            <a:ext cx="787301" cy="977801"/>
          </a:xfrm>
          <a:prstGeom prst="rect">
            <a:avLst/>
          </a:prstGeom>
        </p:spPr>
      </p:pic>
      <p:sp>
        <p:nvSpPr>
          <p:cNvPr id="3" name="Text 0"/>
          <p:cNvSpPr/>
          <p:nvPr/>
        </p:nvSpPr>
        <p:spPr>
          <a:xfrm>
            <a:off x="1263570" y="2354163"/>
            <a:ext cx="6616711" cy="638175"/>
          </a:xfrm>
          <a:prstGeom prst="rect">
            <a:avLst/>
          </a:prstGeom>
          <a:noFill/>
          <a:ln/>
        </p:spPr>
        <p:txBody>
          <a:bodyPr wrap="square" lIns="0" tIns="0" rIns="0" bIns="0" rtlCol="0" anchor="t"/>
          <a:lstStyle/>
          <a:p>
            <a:pPr algn="ctr" indent="0" marL="0">
              <a:buNone/>
            </a:pPr>
            <a:r>
              <a:rPr lang="en-US" sz="4400" b="1" dirty="0">
                <a:solidFill>
                  <a:srgbClr val="F3EEE4"/>
                </a:solidFill>
                <a:latin typeface="Georgia" pitchFamily="34" charset="0"/>
                <a:ea typeface="Georgia" pitchFamily="34" charset="-122"/>
                <a:cs typeface="Georgia" pitchFamily="34" charset="-120"/>
              </a:rPr>
              <a:t>Photoshop for Writing</a:t>
            </a:r>
            <a:endParaRPr lang="en-US" sz="4400" dirty="0"/>
          </a:p>
        </p:txBody>
      </p:sp>
      <p:sp>
        <p:nvSpPr>
          <p:cNvPr id="4" name="Text 1"/>
          <p:cNvSpPr/>
          <p:nvPr/>
        </p:nvSpPr>
        <p:spPr>
          <a:xfrm>
            <a:off x="2989892" y="3144738"/>
            <a:ext cx="3164217" cy="209550"/>
          </a:xfrm>
          <a:prstGeom prst="rect">
            <a:avLst/>
          </a:prstGeom>
          <a:noFill/>
          <a:ln/>
        </p:spPr>
        <p:txBody>
          <a:bodyPr wrap="square" lIns="0" tIns="0" rIns="0" bIns="0" rtlCol="0" anchor="t"/>
          <a:lstStyle/>
          <a:p>
            <a:pPr algn="ctr" indent="0" marL="0">
              <a:spcBef>
                <a:spcPts val="1200"/>
              </a:spcBef>
              <a:buNone/>
            </a:pPr>
            <a:r>
              <a:rPr lang="en-US" sz="1400" dirty="0">
                <a:solidFill>
                  <a:srgbClr val="A89E8F"/>
                </a:solidFill>
                <a:latin typeface="Arial" pitchFamily="34" charset="0"/>
                <a:ea typeface="Arial" pitchFamily="34" charset="-122"/>
                <a:cs typeface="Arial" pitchFamily="34" charset="-120"/>
              </a:rPr>
              <a:t>d/acc for how we write, speak and think</a:t>
            </a:r>
            <a:endParaRPr lang="en-US" sz="1400" dirty="0"/>
          </a:p>
        </p:txBody>
      </p:sp>
      <p:sp>
        <p:nvSpPr>
          <p:cNvPr id="5" name="Text 2"/>
          <p:cNvSpPr/>
          <p:nvPr/>
        </p:nvSpPr>
        <p:spPr>
          <a:xfrm>
            <a:off x="2589886" y="3709839"/>
            <a:ext cx="3964228" cy="133350"/>
          </a:xfrm>
          <a:prstGeom prst="rect">
            <a:avLst/>
          </a:prstGeom>
          <a:noFill/>
          <a:ln/>
        </p:spPr>
        <p:txBody>
          <a:bodyPr wrap="square" lIns="0" tIns="0" rIns="0" bIns="0" rtlCol="0" anchor="t"/>
          <a:lstStyle/>
          <a:p>
            <a:pPr algn="ctr" indent="0" marL="0">
              <a:spcBef>
                <a:spcPts val="2800"/>
              </a:spcBef>
              <a:buNone/>
            </a:pPr>
            <a:r>
              <a:rPr lang="en-US" sz="900" dirty="0">
                <a:solidFill>
                  <a:srgbClr val="E5A063"/>
                </a:solidFill>
                <a:latin typeface="Arial" pitchFamily="34" charset="0"/>
                <a:ea typeface="Arial" pitchFamily="34" charset="-122"/>
                <a:cs typeface="Arial" pitchFamily="34" charset="-120"/>
              </a:rPr>
              <a:t>LIVE ON IOS AND WEB · OPEN SOURCE · BUILT ON BASE</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30E"/>
        </a:solidFill>
      </p:bgPr>
    </p:bg>
    <p:spTree>
      <p:nvGrpSpPr>
        <p:cNvPr id="1" name=""/>
        <p:cNvGrpSpPr/>
        <p:nvPr/>
      </p:nvGrpSpPr>
      <p:grpSpPr>
        <a:xfrm>
          <a:off x="0" y="0"/>
          <a:ext cx="0" cy="0"/>
          <a:chOff x="0" y="0"/>
          <a:chExt cx="0" cy="0"/>
        </a:xfrm>
      </p:grpSpPr>
      <p:sp>
        <p:nvSpPr>
          <p:cNvPr id="2" name="Text 0"/>
          <p:cNvSpPr/>
          <p:nvPr/>
        </p:nvSpPr>
        <p:spPr>
          <a:xfrm>
            <a:off x="533400" y="1127075"/>
            <a:ext cx="6995160" cy="1708249"/>
          </a:xfrm>
          <a:prstGeom prst="rect">
            <a:avLst/>
          </a:prstGeom>
          <a:noFill/>
          <a:ln/>
        </p:spPr>
        <p:txBody>
          <a:bodyPr wrap="square" lIns="0" tIns="0" rIns="0" bIns="0" rtlCol="0" anchor="t"/>
          <a:lstStyle/>
          <a:p>
            <a:pPr algn="l" indent="0" marL="0">
              <a:lnSpc>
                <a:spcPts val="4484"/>
              </a:lnSpc>
              <a:buNone/>
            </a:pPr>
            <a:r>
              <a:rPr lang="en-US" sz="3800" b="1" dirty="0">
                <a:solidFill>
                  <a:srgbClr val="F3EEE4"/>
                </a:solidFill>
                <a:latin typeface="Georgia" pitchFamily="34" charset="0"/>
                <a:ea typeface="Georgia" pitchFamily="34" charset="-122"/>
                <a:cs typeface="Georgia" pitchFamily="34" charset="-120"/>
              </a:rPr>
              <a:t>Your ability to think, speak, and write is about to decide everything.</a:t>
            </a:r>
            <a:endParaRPr lang="en-US" sz="3800" dirty="0"/>
          </a:p>
        </p:txBody>
      </p:sp>
      <p:pic>
        <p:nvPicPr>
          <p:cNvPr id="3" name="Image 0" descr="/Users/konradgnat/dev/startups/luminalog/luminalog-oss/web/scripts/demo-day-pptx/.build/argo-watermark-cream-dim.png">    </p:cNvPr>
          <p:cNvPicPr>
            <a:picLocks noChangeAspect="1"/>
          </p:cNvPicPr>
          <p:nvPr/>
        </p:nvPicPr>
        <p:blipFill>
          <a:blip r:embed="rId1"/>
          <a:stretch>
            <a:fillRect/>
          </a:stretch>
        </p:blipFill>
        <p:spPr>
          <a:xfrm>
            <a:off x="6959501" y="3343275"/>
            <a:ext cx="1117550" cy="67300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30E"/>
        </a:solidFill>
      </p:bgPr>
    </p:bg>
    <p:spTree>
      <p:nvGrpSpPr>
        <p:cNvPr id="1" name=""/>
        <p:cNvGrpSpPr/>
        <p:nvPr/>
      </p:nvGrpSpPr>
      <p:grpSpPr>
        <a:xfrm>
          <a:off x="0" y="0"/>
          <a:ext cx="0" cy="0"/>
          <a:chOff x="0" y="0"/>
          <a:chExt cx="0" cy="0"/>
        </a:xfrm>
      </p:grpSpPr>
      <p:sp>
        <p:nvSpPr>
          <p:cNvPr id="2" name="Shape 0"/>
          <p:cNvSpPr/>
          <p:nvPr/>
        </p:nvSpPr>
        <p:spPr>
          <a:xfrm>
            <a:off x="542925" y="1482328"/>
            <a:ext cx="0" cy="1642170"/>
          </a:xfrm>
          <a:prstGeom prst="line">
            <a:avLst/>
          </a:prstGeom>
          <a:noFill/>
          <a:ln w="19050">
            <a:solidFill>
              <a:srgbClr val="F5C842"/>
            </a:solidFill>
            <a:prstDash val="solid"/>
          </a:ln>
        </p:spPr>
      </p:sp>
      <p:sp>
        <p:nvSpPr>
          <p:cNvPr id="3" name="Text 1"/>
          <p:cNvSpPr/>
          <p:nvPr/>
        </p:nvSpPr>
        <p:spPr>
          <a:xfrm>
            <a:off x="755600" y="1482328"/>
            <a:ext cx="4566285" cy="1312069"/>
          </a:xfrm>
          <a:prstGeom prst="rect">
            <a:avLst/>
          </a:prstGeom>
          <a:noFill/>
          <a:ln/>
        </p:spPr>
        <p:txBody>
          <a:bodyPr wrap="square" lIns="0" tIns="0" rIns="0" bIns="0" rtlCol="0" anchor="t"/>
          <a:lstStyle/>
          <a:p>
            <a:pPr algn="l" indent="0" marL="0">
              <a:lnSpc>
                <a:spcPts val="2584"/>
              </a:lnSpc>
              <a:buNone/>
            </a:pPr>
            <a:r>
              <a:rPr lang="en-US" sz="1900" i="1" dirty="0">
                <a:solidFill>
                  <a:srgbClr val="F3EEE4"/>
                </a:solidFill>
                <a:latin typeface="Georgia" pitchFamily="34" charset="0"/>
                <a:ea typeface="Georgia" pitchFamily="34" charset="-122"/>
                <a:cs typeface="Georgia" pitchFamily="34" charset="-120"/>
              </a:rPr>
              <a:t>Your success in life will be determined largely by your ability to speak, your ability to write, and the quality of your ideas. In that order.</a:t>
            </a:r>
            <a:endParaRPr lang="en-US" sz="1900" dirty="0"/>
          </a:p>
        </p:txBody>
      </p:sp>
      <p:sp>
        <p:nvSpPr>
          <p:cNvPr id="4" name="Text 2"/>
          <p:cNvSpPr/>
          <p:nvPr/>
        </p:nvSpPr>
        <p:spPr>
          <a:xfrm>
            <a:off x="755600" y="2972098"/>
            <a:ext cx="4566285" cy="152400"/>
          </a:xfrm>
          <a:prstGeom prst="rect">
            <a:avLst/>
          </a:prstGeom>
          <a:noFill/>
          <a:ln/>
        </p:spPr>
        <p:txBody>
          <a:bodyPr wrap="square" lIns="0" tIns="0" rIns="0" bIns="0" rtlCol="0" anchor="t"/>
          <a:lstStyle/>
          <a:p>
            <a:pPr algn="l" indent="0" marL="0">
              <a:spcBef>
                <a:spcPts val="1400"/>
              </a:spcBef>
              <a:buNone/>
            </a:pPr>
            <a:r>
              <a:rPr lang="en-US" sz="1100" dirty="0">
                <a:solidFill>
                  <a:srgbClr val="A89E8F"/>
                </a:solidFill>
                <a:latin typeface="Arial" pitchFamily="34" charset="0"/>
                <a:ea typeface="Arial" pitchFamily="34" charset="-122"/>
                <a:cs typeface="Arial" pitchFamily="34" charset="-120"/>
              </a:rPr>
              <a:t>Patrick Winston, MIT</a:t>
            </a:r>
            <a:endParaRPr lang="en-US" sz="1100" dirty="0"/>
          </a:p>
        </p:txBody>
      </p:sp>
      <p:sp>
        <p:nvSpPr>
          <p:cNvPr id="5" name="Text 3"/>
          <p:cNvSpPr/>
          <p:nvPr/>
        </p:nvSpPr>
        <p:spPr>
          <a:xfrm>
            <a:off x="5562451" y="1350913"/>
            <a:ext cx="2667000" cy="1905000"/>
          </a:xfrm>
          <a:prstGeom prst="roundRect">
            <a:avLst>
              <a:gd name="adj" fmla="val 6000"/>
            </a:avLst>
          </a:prstGeom>
          <a:solidFill>
            <a:srgbClr val="1D1811"/>
          </a:solidFill>
          <a:ln w="19050">
            <a:solidFill>
              <a:srgbClr val="CE7F44"/>
            </a:solidFill>
          </a:ln>
        </p:spPr>
        <p:txBody>
          <a:bodyPr wrap="square" rtlCol="0" anchor="ctr"/>
          <a:lstStyle/>
          <a:p>
            <a:pPr indent="0" marL="0">
              <a:buNone/>
            </a:pPr>
            <a:endParaRPr lang="en-US" dirty="0"/>
          </a:p>
        </p:txBody>
      </p:sp>
      <p:sp>
        <p:nvSpPr>
          <p:cNvPr id="6" name="Text 4"/>
          <p:cNvSpPr/>
          <p:nvPr/>
        </p:nvSpPr>
        <p:spPr>
          <a:xfrm>
            <a:off x="5736467" y="1881187"/>
            <a:ext cx="2318968" cy="257175"/>
          </a:xfrm>
          <a:prstGeom prst="rect">
            <a:avLst/>
          </a:prstGeom>
          <a:noFill/>
          <a:ln/>
        </p:spPr>
        <p:txBody>
          <a:bodyPr wrap="square" lIns="0" tIns="0" rIns="0" bIns="0" rtlCol="0" anchor="t"/>
          <a:lstStyle/>
          <a:p>
            <a:pPr algn="ctr" indent="0" marL="0">
              <a:buNone/>
            </a:pPr>
            <a:r>
              <a:rPr lang="en-US" sz="1600" b="1" dirty="0">
                <a:solidFill>
                  <a:srgbClr val="CE7F44"/>
                </a:solidFill>
                <a:latin typeface="Arial" pitchFamily="34" charset="0"/>
                <a:ea typeface="Arial" pitchFamily="34" charset="-122"/>
                <a:cs typeface="Arial" pitchFamily="34" charset="-120"/>
              </a:rPr>
              <a:t>▶</a:t>
            </a:r>
            <a:endParaRPr lang="en-US" sz="1600" dirty="0"/>
          </a:p>
        </p:txBody>
      </p:sp>
      <p:sp>
        <p:nvSpPr>
          <p:cNvPr id="7" name="Text 5"/>
          <p:cNvSpPr/>
          <p:nvPr/>
        </p:nvSpPr>
        <p:spPr>
          <a:xfrm>
            <a:off x="5736467" y="2239863"/>
            <a:ext cx="2318968" cy="142875"/>
          </a:xfrm>
          <a:prstGeom prst="rect">
            <a:avLst/>
          </a:prstGeom>
          <a:noFill/>
          <a:ln/>
        </p:spPr>
        <p:txBody>
          <a:bodyPr wrap="square" lIns="0" tIns="0" rIns="0" bIns="0" rtlCol="0" anchor="t"/>
          <a:lstStyle/>
          <a:p>
            <a:pPr algn="ctr" indent="0" marL="0">
              <a:spcBef>
                <a:spcPts val="800"/>
              </a:spcBef>
              <a:buNone/>
            </a:pPr>
            <a:r>
              <a:rPr lang="en-US" sz="1000" b="1" dirty="0">
                <a:solidFill>
                  <a:srgbClr val="CE7F44"/>
                </a:solidFill>
                <a:latin typeface="Arial" pitchFamily="34" charset="0"/>
                <a:ea typeface="Arial" pitchFamily="34" charset="-122"/>
                <a:cs typeface="Arial" pitchFamily="34" charset="-120"/>
              </a:rPr>
              <a:t>Winston clip, 15 seconds</a:t>
            </a:r>
            <a:endParaRPr lang="en-US" sz="1000" dirty="0"/>
          </a:p>
        </p:txBody>
      </p:sp>
      <p:sp>
        <p:nvSpPr>
          <p:cNvPr id="8" name="Text 6"/>
          <p:cNvSpPr/>
          <p:nvPr/>
        </p:nvSpPr>
        <p:spPr>
          <a:xfrm>
            <a:off x="5736467" y="2458938"/>
            <a:ext cx="2318968" cy="266700"/>
          </a:xfrm>
          <a:prstGeom prst="rect">
            <a:avLst/>
          </a:prstGeom>
          <a:noFill/>
          <a:ln/>
        </p:spPr>
        <p:txBody>
          <a:bodyPr wrap="square" lIns="0" tIns="0" rIns="0" bIns="0" rtlCol="0" anchor="t"/>
          <a:lstStyle/>
          <a:p>
            <a:pPr algn="ctr" indent="0" marL="0">
              <a:lnSpc>
                <a:spcPts val="1050"/>
              </a:lnSpc>
              <a:spcBef>
                <a:spcPts val="600"/>
              </a:spcBef>
              <a:buNone/>
            </a:pPr>
            <a:r>
              <a:rPr lang="en-US" sz="750" dirty="0">
                <a:solidFill>
                  <a:srgbClr val="A89E8F"/>
                </a:solidFill>
                <a:latin typeface="Arial" pitchFamily="34" charset="0"/>
                <a:ea typeface="Arial" pitchFamily="34" charset="-122"/>
                <a:cs typeface="Arial" pitchFamily="34" charset="-120"/>
              </a:rPr>
              <a:t>assets/winston-how-to-speak-first60.mp4</a:t>
            </a:r>
            <a:endParaRPr lang="en-US" sz="750" dirty="0"/>
          </a:p>
          <a:p>
            <a:pPr algn="ctr" indent="0" marL="0">
              <a:lnSpc>
                <a:spcPts val="1050"/>
              </a:lnSpc>
              <a:spcBef>
                <a:spcPts val="600"/>
              </a:spcBef>
              <a:buNone/>
            </a:pPr>
            <a:r>
              <a:rPr lang="en-US" sz="750" dirty="0">
                <a:solidFill>
                  <a:srgbClr val="A89E8F"/>
                </a:solidFill>
                <a:latin typeface="Arial" pitchFamily="34" charset="0"/>
                <a:ea typeface="Arial" pitchFamily="34" charset="-122"/>
                <a:cs typeface="Arial" pitchFamily="34" charset="-120"/>
              </a:rPr>
              <a:t>trimmed 0:38 to 0:53</a:t>
            </a:r>
            <a:endParaRPr lang="en-US" sz="750" dirty="0"/>
          </a:p>
        </p:txBody>
      </p:sp>
      <p:sp>
        <p:nvSpPr>
          <p:cNvPr id="9" name="Text 7"/>
          <p:cNvSpPr/>
          <p:nvPr/>
        </p:nvSpPr>
        <p:spPr>
          <a:xfrm>
            <a:off x="533400" y="3687663"/>
            <a:ext cx="8238744" cy="104775"/>
          </a:xfrm>
          <a:prstGeom prst="rect">
            <a:avLst/>
          </a:prstGeom>
          <a:noFill/>
          <a:ln/>
        </p:spPr>
        <p:txBody>
          <a:bodyPr wrap="square" lIns="0" tIns="0" rIns="0" bIns="0" rtlCol="0" anchor="t"/>
          <a:lstStyle/>
          <a:p>
            <a:pPr algn="l" indent="0" marL="0">
              <a:spcBef>
                <a:spcPts val="3400"/>
              </a:spcBef>
              <a:buNone/>
            </a:pPr>
            <a:r>
              <a:rPr lang="en-US" sz="750" dirty="0">
                <a:solidFill>
                  <a:srgbClr val="A89E8F"/>
                </a:solidFill>
                <a:latin typeface="Arial" pitchFamily="34" charset="0"/>
                <a:ea typeface="Arial" pitchFamily="34" charset="-122"/>
                <a:cs typeface="Arial" pitchFamily="34" charset="-120"/>
              </a:rPr>
              <a:t>Patrick H. Winston, “How to Speak”, MIT OpenCourseWare. CC BY-NC-SA.</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30E"/>
        </a:solidFill>
      </p:bgPr>
    </p:bg>
    <p:spTree>
      <p:nvGrpSpPr>
        <p:cNvPr id="1" name=""/>
        <p:cNvGrpSpPr/>
        <p:nvPr/>
      </p:nvGrpSpPr>
      <p:grpSpPr>
        <a:xfrm>
          <a:off x="0" y="0"/>
          <a:ext cx="0" cy="0"/>
          <a:chOff x="0" y="0"/>
          <a:chExt cx="0" cy="0"/>
        </a:xfrm>
      </p:grpSpPr>
      <p:sp>
        <p:nvSpPr>
          <p:cNvPr id="2" name="Text 0"/>
          <p:cNvSpPr/>
          <p:nvPr/>
        </p:nvSpPr>
        <p:spPr>
          <a:xfrm>
            <a:off x="533400" y="381000"/>
            <a:ext cx="8238744" cy="114300"/>
          </a:xfrm>
          <a:prstGeom prst="rect">
            <a:avLst/>
          </a:prstGeom>
          <a:noFill/>
          <a:ln/>
        </p:spPr>
        <p:txBody>
          <a:bodyPr wrap="square" lIns="0" tIns="0" rIns="0" bIns="0" rtlCol="0" anchor="t"/>
          <a:lstStyle/>
          <a:p>
            <a:pPr algn="l" indent="0" marL="0">
              <a:spcAft>
                <a:spcPts val="1200"/>
              </a:spcAft>
              <a:buNone/>
            </a:pPr>
            <a:r>
              <a:rPr lang="en-US" sz="850" b="1" dirty="0">
                <a:solidFill>
                  <a:srgbClr val="E5A063"/>
                </a:solidFill>
                <a:latin typeface="Arial" pitchFamily="34" charset="0"/>
                <a:ea typeface="Arial" pitchFamily="34" charset="-122"/>
                <a:cs typeface="Arial" pitchFamily="34" charset="-120"/>
              </a:rPr>
              <a:t>D/ACC, ONE YEAR LATER</a:t>
            </a:r>
            <a:endParaRPr lang="en-US" sz="850" dirty="0"/>
          </a:p>
        </p:txBody>
      </p:sp>
      <p:sp>
        <p:nvSpPr>
          <p:cNvPr id="3" name="Text 1"/>
          <p:cNvSpPr/>
          <p:nvPr/>
        </p:nvSpPr>
        <p:spPr>
          <a:xfrm>
            <a:off x="533400" y="647700"/>
            <a:ext cx="7772400" cy="788491"/>
          </a:xfrm>
          <a:prstGeom prst="rect">
            <a:avLst/>
          </a:prstGeom>
          <a:noFill/>
          <a:ln/>
        </p:spPr>
        <p:txBody>
          <a:bodyPr wrap="square" lIns="0" tIns="0" rIns="0" bIns="0" rtlCol="0" anchor="t"/>
          <a:lstStyle/>
          <a:p>
            <a:pPr algn="l" indent="0" marL="0">
              <a:lnSpc>
                <a:spcPts val="3105"/>
              </a:lnSpc>
              <a:buNone/>
            </a:pPr>
            <a:r>
              <a:rPr lang="en-US" sz="2700" b="1" dirty="0">
                <a:solidFill>
                  <a:srgbClr val="F3EEE4"/>
                </a:solidFill>
                <a:latin typeface="Georgia" pitchFamily="34" charset="0"/>
                <a:ea typeface="Georgia" pitchFamily="34" charset="-122"/>
                <a:cs typeface="Georgia" pitchFamily="34" charset="-120"/>
              </a:rPr>
              <a:t>Rung two is tighter and tighter feedback between AI and humans.</a:t>
            </a:r>
            <a:endParaRPr lang="en-US" sz="2700" dirty="0"/>
          </a:p>
        </p:txBody>
      </p:sp>
      <p:sp>
        <p:nvSpPr>
          <p:cNvPr id="4" name="Text 2"/>
          <p:cNvSpPr/>
          <p:nvPr/>
        </p:nvSpPr>
        <p:spPr>
          <a:xfrm>
            <a:off x="533400" y="1817191"/>
            <a:ext cx="2362200" cy="1014413"/>
          </a:xfrm>
          <a:prstGeom prst="roundRect">
            <a:avLst>
              <a:gd name="adj" fmla="val 11268"/>
            </a:avLst>
          </a:prstGeom>
          <a:solidFill>
            <a:srgbClr val="221E18"/>
          </a:solidFill>
          <a:ln w="9525">
            <a:solidFill>
              <a:srgbClr val="332D24"/>
            </a:solidFill>
          </a:ln>
        </p:spPr>
        <p:txBody>
          <a:bodyPr wrap="square" rtlCol="0" anchor="ctr"/>
          <a:lstStyle/>
          <a:p>
            <a:pPr indent="0" marL="0">
              <a:buNone/>
            </a:pPr>
            <a:endParaRPr lang="en-US" dirty="0"/>
          </a:p>
        </p:txBody>
      </p:sp>
      <p:sp>
        <p:nvSpPr>
          <p:cNvPr id="5" name="Text 3"/>
          <p:cNvSpPr/>
          <p:nvPr/>
        </p:nvSpPr>
        <p:spPr>
          <a:xfrm>
            <a:off x="720626" y="2004417"/>
            <a:ext cx="2027503" cy="114300"/>
          </a:xfrm>
          <a:prstGeom prst="rect">
            <a:avLst/>
          </a:prstGeom>
          <a:noFill/>
          <a:ln/>
        </p:spPr>
        <p:txBody>
          <a:bodyPr wrap="square" lIns="0" tIns="0" rIns="0" bIns="0" rtlCol="0" anchor="t"/>
          <a:lstStyle/>
          <a:p>
            <a:pPr algn="l" indent="0" marL="0">
              <a:buNone/>
            </a:pPr>
            <a:r>
              <a:rPr lang="en-US" sz="800" b="1" dirty="0">
                <a:solidFill>
                  <a:srgbClr val="A89E8F"/>
                </a:solidFill>
                <a:latin typeface="Arial" pitchFamily="34" charset="0"/>
                <a:ea typeface="Arial" pitchFamily="34" charset="-122"/>
                <a:cs typeface="Arial" pitchFamily="34" charset="-120"/>
              </a:rPr>
              <a:t>TODAY</a:t>
            </a:r>
            <a:endParaRPr lang="en-US" sz="800" dirty="0"/>
          </a:p>
        </p:txBody>
      </p:sp>
      <p:sp>
        <p:nvSpPr>
          <p:cNvPr id="6" name="Text 4"/>
          <p:cNvSpPr/>
          <p:nvPr/>
        </p:nvSpPr>
        <p:spPr>
          <a:xfrm>
            <a:off x="720626" y="2220218"/>
            <a:ext cx="2027503" cy="405110"/>
          </a:xfrm>
          <a:prstGeom prst="rect">
            <a:avLst/>
          </a:prstGeom>
          <a:noFill/>
          <a:ln/>
        </p:spPr>
        <p:txBody>
          <a:bodyPr wrap="square" lIns="0" tIns="0" rIns="0" bIns="0" rtlCol="0" anchor="t"/>
          <a:lstStyle/>
          <a:p>
            <a:pPr algn="l" indent="0" marL="0">
              <a:lnSpc>
                <a:spcPts val="1595"/>
              </a:lnSpc>
              <a:spcBef>
                <a:spcPts val="800"/>
              </a:spcBef>
              <a:buNone/>
            </a:pPr>
            <a:r>
              <a:rPr lang="en-US" sz="1100" dirty="0">
                <a:solidFill>
                  <a:srgbClr val="F3EEE4"/>
                </a:solidFill>
                <a:latin typeface="Arial" pitchFamily="34" charset="0"/>
                <a:ea typeface="Arial" pitchFamily="34" charset="-122"/>
                <a:cs typeface="Arial" pitchFamily="34" charset="-120"/>
              </a:rPr>
              <a:t>AI as tools, not highly autonomous agents</a:t>
            </a:r>
            <a:endParaRPr lang="en-US" sz="1100" dirty="0"/>
          </a:p>
        </p:txBody>
      </p:sp>
      <p:sp>
        <p:nvSpPr>
          <p:cNvPr id="7" name="Text 5"/>
          <p:cNvSpPr/>
          <p:nvPr/>
        </p:nvSpPr>
        <p:spPr>
          <a:xfrm>
            <a:off x="3073301" y="1817191"/>
            <a:ext cx="2362200" cy="1014413"/>
          </a:xfrm>
          <a:prstGeom prst="roundRect">
            <a:avLst>
              <a:gd name="adj" fmla="val 11268"/>
            </a:avLst>
          </a:prstGeom>
          <a:solidFill>
            <a:srgbClr val="1D1811"/>
          </a:solidFill>
          <a:ln w="19050">
            <a:solidFill>
              <a:srgbClr val="CE7F44"/>
            </a:solidFill>
          </a:ln>
        </p:spPr>
        <p:txBody>
          <a:bodyPr wrap="square" rtlCol="0" anchor="ctr"/>
          <a:lstStyle/>
          <a:p>
            <a:pPr indent="0" marL="0">
              <a:buNone/>
            </a:pPr>
            <a:endParaRPr lang="en-US" dirty="0"/>
          </a:p>
        </p:txBody>
      </p:sp>
      <p:sp>
        <p:nvSpPr>
          <p:cNvPr id="8" name="Text 6"/>
          <p:cNvSpPr/>
          <p:nvPr/>
        </p:nvSpPr>
        <p:spPr>
          <a:xfrm>
            <a:off x="3270052" y="2013942"/>
            <a:ext cx="2008072" cy="114300"/>
          </a:xfrm>
          <a:prstGeom prst="rect">
            <a:avLst/>
          </a:prstGeom>
          <a:noFill/>
          <a:ln/>
        </p:spPr>
        <p:txBody>
          <a:bodyPr wrap="square" lIns="0" tIns="0" rIns="0" bIns="0" rtlCol="0" anchor="t"/>
          <a:lstStyle/>
          <a:p>
            <a:pPr algn="l" indent="0" marL="0">
              <a:buNone/>
            </a:pPr>
            <a:r>
              <a:rPr lang="en-US" sz="800" b="1" dirty="0">
                <a:solidFill>
                  <a:srgbClr val="F5C842"/>
                </a:solidFill>
                <a:latin typeface="Arial" pitchFamily="34" charset="0"/>
                <a:ea typeface="Arial" pitchFamily="34" charset="-122"/>
                <a:cs typeface="Arial" pitchFamily="34" charset="-120"/>
              </a:rPr>
              <a:t>TOMORROW</a:t>
            </a:r>
            <a:endParaRPr lang="en-US" sz="800" dirty="0"/>
          </a:p>
        </p:txBody>
      </p:sp>
      <p:sp>
        <p:nvSpPr>
          <p:cNvPr id="9" name="Text 7"/>
          <p:cNvSpPr/>
          <p:nvPr/>
        </p:nvSpPr>
        <p:spPr>
          <a:xfrm>
            <a:off x="3270052" y="2229743"/>
            <a:ext cx="2008072" cy="405110"/>
          </a:xfrm>
          <a:prstGeom prst="rect">
            <a:avLst/>
          </a:prstGeom>
          <a:noFill/>
          <a:ln/>
        </p:spPr>
        <p:txBody>
          <a:bodyPr wrap="square" lIns="0" tIns="0" rIns="0" bIns="0" rtlCol="0" anchor="t"/>
          <a:lstStyle/>
          <a:p>
            <a:pPr algn="l" indent="0" marL="0">
              <a:lnSpc>
                <a:spcPts val="1595"/>
              </a:lnSpc>
              <a:spcBef>
                <a:spcPts val="800"/>
              </a:spcBef>
              <a:buNone/>
            </a:pPr>
            <a:r>
              <a:rPr lang="en-US" sz="1100" dirty="0">
                <a:solidFill>
                  <a:srgbClr val="F3EEE4"/>
                </a:solidFill>
                <a:latin typeface="Arial" pitchFamily="34" charset="0"/>
                <a:ea typeface="Arial" pitchFamily="34" charset="-122"/>
                <a:cs typeface="Arial" pitchFamily="34" charset="-120"/>
              </a:rPr>
              <a:t>Tighter and tighter feedback between AI and humans</a:t>
            </a:r>
            <a:endParaRPr lang="en-US" sz="1100" dirty="0"/>
          </a:p>
        </p:txBody>
      </p:sp>
      <p:sp>
        <p:nvSpPr>
          <p:cNvPr id="10" name="Text 8"/>
          <p:cNvSpPr/>
          <p:nvPr/>
        </p:nvSpPr>
        <p:spPr>
          <a:xfrm>
            <a:off x="5613202" y="1817191"/>
            <a:ext cx="2362200" cy="1014413"/>
          </a:xfrm>
          <a:prstGeom prst="roundRect">
            <a:avLst>
              <a:gd name="adj" fmla="val 11268"/>
            </a:avLst>
          </a:prstGeom>
          <a:solidFill>
            <a:srgbClr val="221E18"/>
          </a:solidFill>
          <a:ln w="9525">
            <a:solidFill>
              <a:srgbClr val="332D24"/>
            </a:solidFill>
          </a:ln>
        </p:spPr>
        <p:txBody>
          <a:bodyPr wrap="square" rtlCol="0" anchor="ctr"/>
          <a:lstStyle/>
          <a:p>
            <a:pPr indent="0" marL="0">
              <a:buNone/>
            </a:pPr>
            <a:endParaRPr lang="en-US" dirty="0"/>
          </a:p>
        </p:txBody>
      </p:sp>
      <p:sp>
        <p:nvSpPr>
          <p:cNvPr id="11" name="Text 9"/>
          <p:cNvSpPr/>
          <p:nvPr/>
        </p:nvSpPr>
        <p:spPr>
          <a:xfrm>
            <a:off x="5800427" y="2004417"/>
            <a:ext cx="2027503" cy="114300"/>
          </a:xfrm>
          <a:prstGeom prst="rect">
            <a:avLst/>
          </a:prstGeom>
          <a:noFill/>
          <a:ln/>
        </p:spPr>
        <p:txBody>
          <a:bodyPr wrap="square" lIns="0" tIns="0" rIns="0" bIns="0" rtlCol="0" anchor="t"/>
          <a:lstStyle/>
          <a:p>
            <a:pPr algn="l" indent="0" marL="0">
              <a:buNone/>
            </a:pPr>
            <a:r>
              <a:rPr lang="en-US" sz="800" b="1" dirty="0">
                <a:solidFill>
                  <a:srgbClr val="A89E8F"/>
                </a:solidFill>
                <a:latin typeface="Arial" pitchFamily="34" charset="0"/>
                <a:ea typeface="Arial" pitchFamily="34" charset="-122"/>
                <a:cs typeface="Arial" pitchFamily="34" charset="-120"/>
              </a:rPr>
              <a:t>OVER TIME</a:t>
            </a:r>
            <a:endParaRPr lang="en-US" sz="800" dirty="0"/>
          </a:p>
        </p:txBody>
      </p:sp>
      <p:sp>
        <p:nvSpPr>
          <p:cNvPr id="12" name="Text 10"/>
          <p:cNvSpPr/>
          <p:nvPr/>
        </p:nvSpPr>
        <p:spPr>
          <a:xfrm>
            <a:off x="5800427" y="2220218"/>
            <a:ext cx="2027503" cy="405110"/>
          </a:xfrm>
          <a:prstGeom prst="rect">
            <a:avLst/>
          </a:prstGeom>
          <a:noFill/>
          <a:ln/>
        </p:spPr>
        <p:txBody>
          <a:bodyPr wrap="square" lIns="0" tIns="0" rIns="0" bIns="0" rtlCol="0" anchor="t"/>
          <a:lstStyle/>
          <a:p>
            <a:pPr algn="l" indent="0" marL="0">
              <a:lnSpc>
                <a:spcPts val="1595"/>
              </a:lnSpc>
              <a:spcBef>
                <a:spcPts val="800"/>
              </a:spcBef>
              <a:buNone/>
            </a:pPr>
            <a:r>
              <a:rPr lang="en-US" sz="1100" dirty="0">
                <a:solidFill>
                  <a:srgbClr val="F3EEE4"/>
                </a:solidFill>
                <a:latin typeface="Arial" pitchFamily="34" charset="0"/>
                <a:ea typeface="Arial" pitchFamily="34" charset="-122"/>
                <a:cs typeface="Arial" pitchFamily="34" charset="-120"/>
              </a:rPr>
              <a:t>A tightly coupled combination of machines and us</a:t>
            </a:r>
            <a:endParaRPr lang="en-US" sz="1100" dirty="0"/>
          </a:p>
        </p:txBody>
      </p:sp>
      <p:sp>
        <p:nvSpPr>
          <p:cNvPr id="13" name="Text 11"/>
          <p:cNvSpPr/>
          <p:nvPr/>
        </p:nvSpPr>
        <p:spPr>
          <a:xfrm>
            <a:off x="533400" y="3161705"/>
            <a:ext cx="7901889" cy="457200"/>
          </a:xfrm>
          <a:prstGeom prst="rect">
            <a:avLst/>
          </a:prstGeom>
          <a:noFill/>
          <a:ln/>
        </p:spPr>
        <p:txBody>
          <a:bodyPr wrap="square" lIns="0" tIns="0" rIns="0" bIns="0" rtlCol="0" anchor="t"/>
          <a:lstStyle/>
          <a:p>
            <a:pPr algn="l" indent="0" marL="0">
              <a:lnSpc>
                <a:spcPts val="1800"/>
              </a:lnSpc>
              <a:spcBef>
                <a:spcPts val="2600"/>
              </a:spcBef>
              <a:buNone/>
            </a:pPr>
            <a:r>
              <a:rPr lang="en-US" sz="1200" dirty="0">
                <a:solidFill>
                  <a:srgbClr val="A89E8F"/>
                </a:solidFill>
                <a:latin typeface="Arial" pitchFamily="34" charset="0"/>
                <a:ea typeface="Arial" pitchFamily="34" charset="-122"/>
                <a:cs typeface="Arial" pitchFamily="34" charset="-120"/>
              </a:rPr>
              <a:t>The mechanisms he named for rung two: </a:t>
            </a:r>
            <a:pPr algn="l" indent="0" marL="0">
              <a:lnSpc>
                <a:spcPts val="1800"/>
              </a:lnSpc>
              <a:spcBef>
                <a:spcPts val="2600"/>
              </a:spcBef>
              <a:buNone/>
            </a:pPr>
            <a:r>
              <a:rPr lang="en-US" sz="1200" dirty="0">
                <a:solidFill>
                  <a:srgbClr val="F3EEE4"/>
                </a:solidFill>
                <a:latin typeface="Arial" pitchFamily="34" charset="0"/>
                <a:ea typeface="Arial" pitchFamily="34" charset="-122"/>
                <a:cs typeface="Arial" pitchFamily="34" charset="-120"/>
              </a:rPr>
              <a:t>virtual reality, myoelectrics, brain computer interfaces.</a:t>
            </a:r>
            <a:pPr algn="l" indent="0" marL="0">
              <a:lnSpc>
                <a:spcPts val="1800"/>
              </a:lnSpc>
              <a:spcBef>
                <a:spcPts val="2600"/>
              </a:spcBef>
              <a:buNone/>
            </a:pPr>
            <a:r>
              <a:rPr lang="en-US" sz="1200" dirty="0">
                <a:solidFill>
                  <a:srgbClr val="A89E8F"/>
                </a:solidFill>
                <a:latin typeface="Arial" pitchFamily="34" charset="0"/>
                <a:ea typeface="Arial" pitchFamily="34" charset="-122"/>
                <a:cs typeface="Arial" pitchFamily="34" charset="-120"/>
              </a:rPr>
              <a:t> All hardware. All years out.</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0E9"/>
        </a:solidFill>
      </p:bgPr>
    </p:bg>
    <p:spTree>
      <p:nvGrpSpPr>
        <p:cNvPr id="1" name=""/>
        <p:cNvGrpSpPr/>
        <p:nvPr/>
      </p:nvGrpSpPr>
      <p:grpSpPr>
        <a:xfrm>
          <a:off x="0" y="0"/>
          <a:ext cx="0" cy="0"/>
          <a:chOff x="0" y="0"/>
          <a:chExt cx="0" cy="0"/>
        </a:xfrm>
      </p:grpSpPr>
      <p:sp>
        <p:nvSpPr>
          <p:cNvPr id="2" name="Text 0"/>
          <p:cNvSpPr/>
          <p:nvPr/>
        </p:nvSpPr>
        <p:spPr>
          <a:xfrm>
            <a:off x="533400" y="381000"/>
            <a:ext cx="8238744" cy="114300"/>
          </a:xfrm>
          <a:prstGeom prst="rect">
            <a:avLst/>
          </a:prstGeom>
          <a:noFill/>
          <a:ln/>
        </p:spPr>
        <p:txBody>
          <a:bodyPr wrap="square" lIns="0" tIns="0" rIns="0" bIns="0" rtlCol="0" anchor="t"/>
          <a:lstStyle/>
          <a:p>
            <a:pPr algn="l" indent="0" marL="0">
              <a:spcAft>
                <a:spcPts val="1200"/>
              </a:spcAft>
              <a:buNone/>
            </a:pPr>
            <a:r>
              <a:rPr lang="en-US" sz="850" b="1" dirty="0">
                <a:solidFill>
                  <a:srgbClr val="B96B33"/>
                </a:solidFill>
                <a:latin typeface="Arial" pitchFamily="34" charset="0"/>
                <a:ea typeface="Arial" pitchFamily="34" charset="-122"/>
                <a:cs typeface="Arial" pitchFamily="34" charset="-120"/>
              </a:rPr>
              <a:t>THE UNCLAIMED HALF</a:t>
            </a:r>
            <a:endParaRPr lang="en-US" sz="850" dirty="0"/>
          </a:p>
        </p:txBody>
      </p:sp>
      <p:sp>
        <p:nvSpPr>
          <p:cNvPr id="3" name="Text 1"/>
          <p:cNvSpPr/>
          <p:nvPr/>
        </p:nvSpPr>
        <p:spPr>
          <a:xfrm>
            <a:off x="533400" y="647700"/>
            <a:ext cx="7772400" cy="788491"/>
          </a:xfrm>
          <a:prstGeom prst="rect">
            <a:avLst/>
          </a:prstGeom>
          <a:noFill/>
          <a:ln/>
        </p:spPr>
        <p:txBody>
          <a:bodyPr wrap="square" lIns="0" tIns="0" rIns="0" bIns="0" rtlCol="0" anchor="t"/>
          <a:lstStyle/>
          <a:p>
            <a:pPr algn="l" indent="0" marL="0">
              <a:lnSpc>
                <a:spcPts val="3105"/>
              </a:lnSpc>
              <a:buNone/>
            </a:pPr>
            <a:r>
              <a:rPr lang="en-US" sz="2700" b="1" dirty="0">
                <a:solidFill>
                  <a:srgbClr val="2B2722"/>
                </a:solidFill>
                <a:latin typeface="Georgia" pitchFamily="34" charset="0"/>
                <a:ea typeface="Georgia" pitchFamily="34" charset="-122"/>
                <a:cs typeface="Georgia" pitchFamily="34" charset="-120"/>
              </a:rPr>
              <a:t>He made the Photoshop argument about images. Nobody carried it to language.</a:t>
            </a:r>
            <a:endParaRPr lang="en-US" sz="2700" dirty="0"/>
          </a:p>
        </p:txBody>
      </p:sp>
      <p:sp>
        <p:nvSpPr>
          <p:cNvPr id="4" name="Text 2"/>
          <p:cNvSpPr/>
          <p:nvPr/>
        </p:nvSpPr>
        <p:spPr>
          <a:xfrm>
            <a:off x="533400" y="1766292"/>
            <a:ext cx="3810000" cy="1785045"/>
          </a:xfrm>
          <a:prstGeom prst="roundRect">
            <a:avLst>
              <a:gd name="adj" fmla="val 6403"/>
            </a:avLst>
          </a:prstGeom>
          <a:solidFill>
            <a:srgbClr val="FBF8F3"/>
          </a:solidFill>
          <a:ln w="9525">
            <a:solidFill>
              <a:srgbClr val="E3DCCE"/>
            </a:solidFill>
          </a:ln>
        </p:spPr>
        <p:txBody>
          <a:bodyPr wrap="square" rtlCol="0" anchor="ctr"/>
          <a:lstStyle/>
          <a:p>
            <a:pPr indent="0" marL="0">
              <a:buNone/>
            </a:pPr>
            <a:endParaRPr lang="en-US" dirty="0"/>
          </a:p>
        </p:txBody>
      </p:sp>
      <p:sp>
        <p:nvSpPr>
          <p:cNvPr id="5" name="Text 3"/>
          <p:cNvSpPr/>
          <p:nvPr/>
        </p:nvSpPr>
        <p:spPr>
          <a:xfrm>
            <a:off x="771525" y="2004417"/>
            <a:ext cx="3400425" cy="114300"/>
          </a:xfrm>
          <a:prstGeom prst="rect">
            <a:avLst/>
          </a:prstGeom>
          <a:noFill/>
          <a:ln/>
        </p:spPr>
        <p:txBody>
          <a:bodyPr wrap="square" lIns="0" tIns="0" rIns="0" bIns="0" rtlCol="0" anchor="t"/>
          <a:lstStyle/>
          <a:p>
            <a:pPr algn="l" indent="0" marL="0">
              <a:buNone/>
            </a:pPr>
            <a:r>
              <a:rPr lang="en-US" sz="850" b="1" dirty="0">
                <a:solidFill>
                  <a:srgbClr val="7C7468"/>
                </a:solidFill>
                <a:latin typeface="Arial" pitchFamily="34" charset="0"/>
                <a:ea typeface="Arial" pitchFamily="34" charset="-122"/>
                <a:cs typeface="Arial" pitchFamily="34" charset="-120"/>
              </a:rPr>
              <a:t>IMAGES</a:t>
            </a:r>
            <a:endParaRPr lang="en-US" sz="850" dirty="0"/>
          </a:p>
        </p:txBody>
      </p:sp>
      <p:sp>
        <p:nvSpPr>
          <p:cNvPr id="6" name="Text 4"/>
          <p:cNvSpPr/>
          <p:nvPr/>
        </p:nvSpPr>
        <p:spPr>
          <a:xfrm>
            <a:off x="771525" y="2220218"/>
            <a:ext cx="3400425" cy="536079"/>
          </a:xfrm>
          <a:prstGeom prst="rect">
            <a:avLst/>
          </a:prstGeom>
          <a:noFill/>
          <a:ln/>
        </p:spPr>
        <p:txBody>
          <a:bodyPr wrap="square" lIns="0" tIns="0" rIns="0" bIns="0" rtlCol="0" anchor="t"/>
          <a:lstStyle/>
          <a:p>
            <a:pPr algn="l" indent="0" marL="0">
              <a:lnSpc>
                <a:spcPts val="2112"/>
              </a:lnSpc>
              <a:spcBef>
                <a:spcPts val="800"/>
              </a:spcBef>
              <a:buNone/>
            </a:pPr>
            <a:r>
              <a:rPr lang="en-US" sz="1600" dirty="0">
                <a:solidFill>
                  <a:srgbClr val="2B2722"/>
                </a:solidFill>
                <a:latin typeface="Georgia" pitchFamily="34" charset="0"/>
                <a:ea typeface="Georgia" pitchFamily="34" charset="-122"/>
                <a:cs typeface="Georgia" pitchFamily="34" charset="-120"/>
              </a:rPr>
              <a:t>Artist and AI trade drafts in real time. The artefact is the point.</a:t>
            </a:r>
            <a:endParaRPr lang="en-US" sz="1600" dirty="0"/>
          </a:p>
        </p:txBody>
      </p:sp>
      <p:sp>
        <p:nvSpPr>
          <p:cNvPr id="7" name="Text 5"/>
          <p:cNvSpPr/>
          <p:nvPr/>
        </p:nvSpPr>
        <p:spPr>
          <a:xfrm>
            <a:off x="771525" y="2883247"/>
            <a:ext cx="3400425" cy="142875"/>
          </a:xfrm>
          <a:prstGeom prst="rect">
            <a:avLst/>
          </a:prstGeom>
          <a:noFill/>
          <a:ln/>
        </p:spPr>
        <p:txBody>
          <a:bodyPr wrap="square" lIns="0" tIns="0" rIns="0" bIns="0" rtlCol="0" anchor="t"/>
          <a:lstStyle/>
          <a:p>
            <a:pPr algn="l" indent="0" marL="0">
              <a:spcBef>
                <a:spcPts val="1000"/>
              </a:spcBef>
              <a:buNone/>
            </a:pPr>
            <a:r>
              <a:rPr lang="en-US" sz="1000" dirty="0">
                <a:solidFill>
                  <a:srgbClr val="7C7468"/>
                </a:solidFill>
                <a:latin typeface="Arial" pitchFamily="34" charset="0"/>
                <a:ea typeface="Arial" pitchFamily="34" charset="-122"/>
                <a:cs typeface="Arial" pitchFamily="34" charset="-120"/>
              </a:rPr>
              <a:t>Claimed. Shipping.</a:t>
            </a:r>
            <a:endParaRPr lang="en-US" sz="1000" dirty="0"/>
          </a:p>
        </p:txBody>
      </p:sp>
      <p:sp>
        <p:nvSpPr>
          <p:cNvPr id="8" name="Text 6"/>
          <p:cNvSpPr/>
          <p:nvPr/>
        </p:nvSpPr>
        <p:spPr>
          <a:xfrm>
            <a:off x="4495800" y="1766292"/>
            <a:ext cx="3810000" cy="1785045"/>
          </a:xfrm>
          <a:prstGeom prst="roundRect">
            <a:avLst>
              <a:gd name="adj" fmla="val 6403"/>
            </a:avLst>
          </a:prstGeom>
          <a:solidFill>
            <a:srgbClr val="F7EDE2"/>
          </a:solidFill>
          <a:ln w="19050">
            <a:solidFill>
              <a:srgbClr val="CE7F44"/>
            </a:solidFill>
          </a:ln>
        </p:spPr>
        <p:txBody>
          <a:bodyPr wrap="square" rtlCol="0" anchor="ctr"/>
          <a:lstStyle/>
          <a:p>
            <a:pPr indent="0" marL="0">
              <a:buNone/>
            </a:pPr>
            <a:endParaRPr lang="en-US" dirty="0"/>
          </a:p>
        </p:txBody>
      </p:sp>
      <p:sp>
        <p:nvSpPr>
          <p:cNvPr id="9" name="Text 7"/>
          <p:cNvSpPr/>
          <p:nvPr/>
        </p:nvSpPr>
        <p:spPr>
          <a:xfrm>
            <a:off x="4743450" y="2013942"/>
            <a:ext cx="3380994" cy="114300"/>
          </a:xfrm>
          <a:prstGeom prst="rect">
            <a:avLst/>
          </a:prstGeom>
          <a:noFill/>
          <a:ln/>
        </p:spPr>
        <p:txBody>
          <a:bodyPr wrap="square" lIns="0" tIns="0" rIns="0" bIns="0" rtlCol="0" anchor="t"/>
          <a:lstStyle/>
          <a:p>
            <a:pPr algn="l" indent="0" marL="0">
              <a:buNone/>
            </a:pPr>
            <a:r>
              <a:rPr lang="en-US" sz="850" b="1" dirty="0">
                <a:solidFill>
                  <a:srgbClr val="B96B33"/>
                </a:solidFill>
                <a:latin typeface="Arial" pitchFamily="34" charset="0"/>
                <a:ea typeface="Arial" pitchFamily="34" charset="-122"/>
                <a:cs typeface="Arial" pitchFamily="34" charset="-120"/>
              </a:rPr>
              <a:t>LANGUAGE</a:t>
            </a:r>
            <a:endParaRPr lang="en-US" sz="850" dirty="0"/>
          </a:p>
        </p:txBody>
      </p:sp>
      <p:sp>
        <p:nvSpPr>
          <p:cNvPr id="10" name="Text 8"/>
          <p:cNvSpPr/>
          <p:nvPr/>
        </p:nvSpPr>
        <p:spPr>
          <a:xfrm>
            <a:off x="4743450" y="2229743"/>
            <a:ext cx="3380994" cy="804118"/>
          </a:xfrm>
          <a:prstGeom prst="rect">
            <a:avLst/>
          </a:prstGeom>
          <a:noFill/>
          <a:ln/>
        </p:spPr>
        <p:txBody>
          <a:bodyPr wrap="square" lIns="0" tIns="0" rIns="0" bIns="0" rtlCol="0" anchor="t"/>
          <a:lstStyle/>
          <a:p>
            <a:pPr algn="l" indent="0" marL="0">
              <a:lnSpc>
                <a:spcPts val="2112"/>
              </a:lnSpc>
              <a:spcBef>
                <a:spcPts val="800"/>
              </a:spcBef>
              <a:buNone/>
            </a:pPr>
            <a:r>
              <a:rPr lang="en-US" sz="1600" dirty="0">
                <a:solidFill>
                  <a:srgbClr val="2B2722"/>
                </a:solidFill>
                <a:latin typeface="Georgia" pitchFamily="34" charset="0"/>
                <a:ea typeface="Georgia" pitchFamily="34" charset="-122"/>
                <a:cs typeface="Georgia" pitchFamily="34" charset="-120"/>
              </a:rPr>
              <a:t>The artefact is a by product. The compression of thought is the cognition.</a:t>
            </a:r>
            <a:endParaRPr lang="en-US" sz="1600" dirty="0"/>
          </a:p>
        </p:txBody>
      </p:sp>
      <p:sp>
        <p:nvSpPr>
          <p:cNvPr id="11" name="Text 9"/>
          <p:cNvSpPr/>
          <p:nvPr/>
        </p:nvSpPr>
        <p:spPr>
          <a:xfrm>
            <a:off x="4743450" y="3160812"/>
            <a:ext cx="3380994" cy="142875"/>
          </a:xfrm>
          <a:prstGeom prst="rect">
            <a:avLst/>
          </a:prstGeom>
          <a:noFill/>
          <a:ln/>
        </p:spPr>
        <p:txBody>
          <a:bodyPr wrap="square" lIns="0" tIns="0" rIns="0" bIns="0" rtlCol="0" anchor="t"/>
          <a:lstStyle/>
          <a:p>
            <a:pPr algn="l" indent="0" marL="0">
              <a:spcBef>
                <a:spcPts val="1000"/>
              </a:spcBef>
              <a:buNone/>
            </a:pPr>
            <a:r>
              <a:rPr lang="en-US" sz="1000" b="1" dirty="0">
                <a:solidFill>
                  <a:srgbClr val="B96B33"/>
                </a:solidFill>
                <a:latin typeface="Arial" pitchFamily="34" charset="0"/>
                <a:ea typeface="Arial" pitchFamily="34" charset="-122"/>
                <a:cs typeface="Arial" pitchFamily="34" charset="-120"/>
              </a:rPr>
              <a:t>Open. This is where Argo is built.</a:t>
            </a:r>
            <a:endParaRPr lang="en-US" sz="1000" dirty="0"/>
          </a:p>
        </p:txBody>
      </p:sp>
      <p:sp>
        <p:nvSpPr>
          <p:cNvPr id="12" name="Text 10"/>
          <p:cNvSpPr/>
          <p:nvPr/>
        </p:nvSpPr>
        <p:spPr>
          <a:xfrm>
            <a:off x="533400" y="3830687"/>
            <a:ext cx="7927848" cy="419100"/>
          </a:xfrm>
          <a:prstGeom prst="rect">
            <a:avLst/>
          </a:prstGeom>
          <a:noFill/>
          <a:ln/>
        </p:spPr>
        <p:txBody>
          <a:bodyPr wrap="square" lIns="0" tIns="0" rIns="0" bIns="0" rtlCol="0" anchor="t"/>
          <a:lstStyle/>
          <a:p>
            <a:pPr algn="l" indent="0" marL="0">
              <a:lnSpc>
                <a:spcPts val="1650"/>
              </a:lnSpc>
              <a:spcBef>
                <a:spcPts val="2200"/>
              </a:spcBef>
              <a:buNone/>
            </a:pPr>
            <a:r>
              <a:rPr lang="en-US" sz="1100" dirty="0">
                <a:solidFill>
                  <a:srgbClr val="7C7468"/>
                </a:solidFill>
                <a:latin typeface="Arial" pitchFamily="34" charset="0"/>
                <a:ea typeface="Arial" pitchFamily="34" charset="-122"/>
                <a:cs typeface="Arial" pitchFamily="34" charset="-120"/>
              </a:rPr>
              <a:t>Delegate the drawing and you lose a picture you did not make. Delegate the writing and you skip the step that was doing the thinking.</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0E9"/>
        </a:solidFill>
      </p:bgPr>
    </p:bg>
    <p:spTree>
      <p:nvGrpSpPr>
        <p:cNvPr id="1" name=""/>
        <p:cNvGrpSpPr/>
        <p:nvPr/>
      </p:nvGrpSpPr>
      <p:grpSpPr>
        <a:xfrm>
          <a:off x="0" y="0"/>
          <a:ext cx="0" cy="0"/>
          <a:chOff x="0" y="0"/>
          <a:chExt cx="0" cy="0"/>
        </a:xfrm>
      </p:grpSpPr>
      <p:sp>
        <p:nvSpPr>
          <p:cNvPr id="2" name="Text 0"/>
          <p:cNvSpPr/>
          <p:nvPr/>
        </p:nvSpPr>
        <p:spPr>
          <a:xfrm>
            <a:off x="533400" y="381000"/>
            <a:ext cx="4274820" cy="114300"/>
          </a:xfrm>
          <a:prstGeom prst="rect">
            <a:avLst/>
          </a:prstGeom>
          <a:noFill/>
          <a:ln/>
        </p:spPr>
        <p:txBody>
          <a:bodyPr wrap="square" lIns="0" tIns="0" rIns="0" bIns="0" rtlCol="0" anchor="t"/>
          <a:lstStyle/>
          <a:p>
            <a:pPr algn="l" indent="0" marL="0">
              <a:spcAft>
                <a:spcPts val="1200"/>
              </a:spcAft>
              <a:buNone/>
            </a:pPr>
            <a:r>
              <a:rPr lang="en-US" sz="850" b="1" dirty="0">
                <a:solidFill>
                  <a:srgbClr val="B96B33"/>
                </a:solidFill>
                <a:latin typeface="Arial" pitchFamily="34" charset="0"/>
                <a:ea typeface="Arial" pitchFamily="34" charset="-122"/>
                <a:cs typeface="Arial" pitchFamily="34" charset="-120"/>
              </a:rPr>
              <a:t>THE PRODUCT</a:t>
            </a:r>
            <a:endParaRPr lang="en-US" sz="850" dirty="0"/>
          </a:p>
        </p:txBody>
      </p:sp>
      <p:sp>
        <p:nvSpPr>
          <p:cNvPr id="3" name="Text 1"/>
          <p:cNvSpPr/>
          <p:nvPr/>
        </p:nvSpPr>
        <p:spPr>
          <a:xfrm>
            <a:off x="533400" y="647700"/>
            <a:ext cx="4274820" cy="1182737"/>
          </a:xfrm>
          <a:prstGeom prst="rect">
            <a:avLst/>
          </a:prstGeom>
          <a:noFill/>
          <a:ln/>
        </p:spPr>
        <p:txBody>
          <a:bodyPr wrap="square" lIns="0" tIns="0" rIns="0" bIns="0" rtlCol="0" anchor="t"/>
          <a:lstStyle/>
          <a:p>
            <a:pPr algn="l" indent="0" marL="0">
              <a:lnSpc>
                <a:spcPts val="3105"/>
              </a:lnSpc>
              <a:buNone/>
            </a:pPr>
            <a:r>
              <a:rPr lang="en-US" sz="2700" b="1" dirty="0">
                <a:solidFill>
                  <a:srgbClr val="2B2722"/>
                </a:solidFill>
                <a:latin typeface="Georgia" pitchFamily="34" charset="0"/>
                <a:ea typeface="Georgia" pitchFamily="34" charset="-122"/>
                <a:cs typeface="Georgia" pitchFamily="34" charset="-120"/>
              </a:rPr>
              <a:t>A private journaling AI that never writes for you.</a:t>
            </a:r>
            <a:endParaRPr lang="en-US" sz="2700" dirty="0"/>
          </a:p>
        </p:txBody>
      </p:sp>
      <p:sp>
        <p:nvSpPr>
          <p:cNvPr id="4" name="Text 2"/>
          <p:cNvSpPr/>
          <p:nvPr/>
        </p:nvSpPr>
        <p:spPr>
          <a:xfrm>
            <a:off x="533400" y="2008138"/>
            <a:ext cx="4274820" cy="914400"/>
          </a:xfrm>
          <a:prstGeom prst="rect">
            <a:avLst/>
          </a:prstGeom>
          <a:noFill/>
          <a:ln/>
        </p:spPr>
        <p:txBody>
          <a:bodyPr wrap="square" lIns="0" tIns="0" rIns="0" bIns="0" rtlCol="0" anchor="t"/>
          <a:lstStyle/>
          <a:p>
            <a:pPr algn="l" indent="0" marL="0">
              <a:lnSpc>
                <a:spcPts val="1800"/>
              </a:lnSpc>
              <a:spcBef>
                <a:spcPts val="1400"/>
              </a:spcBef>
              <a:buNone/>
            </a:pPr>
            <a:r>
              <a:rPr lang="en-US" sz="1200" dirty="0">
                <a:solidFill>
                  <a:srgbClr val="7C7468"/>
                </a:solidFill>
                <a:latin typeface="Arial" pitchFamily="34" charset="0"/>
                <a:ea typeface="Arial" pitchFamily="34" charset="-122"/>
                <a:cs typeface="Arial" pitchFamily="34" charset="-120"/>
              </a:rPr>
              <a:t>Write it or say it. A companion that has read every entry you have ever made reads it back: a summary, the insights, the questions to ask yourself, and the entry from eight months ago you forgot you wrote.</a:t>
            </a:r>
            <a:endParaRPr lang="en-US" sz="1200" dirty="0"/>
          </a:p>
        </p:txBody>
      </p:sp>
      <p:sp>
        <p:nvSpPr>
          <p:cNvPr id="5" name="Text 3"/>
          <p:cNvSpPr/>
          <p:nvPr/>
        </p:nvSpPr>
        <p:spPr>
          <a:xfrm>
            <a:off x="533400" y="3201888"/>
            <a:ext cx="4274820" cy="582811"/>
          </a:xfrm>
          <a:prstGeom prst="rect">
            <a:avLst/>
          </a:prstGeom>
          <a:noFill/>
          <a:ln/>
        </p:spPr>
        <p:txBody>
          <a:bodyPr wrap="square" lIns="0" tIns="0" rIns="0" bIns="0" rtlCol="0" anchor="t"/>
          <a:lstStyle/>
          <a:p>
            <a:pPr algn="l" indent="0" marL="0">
              <a:lnSpc>
                <a:spcPts val="2295"/>
              </a:lnSpc>
              <a:spcBef>
                <a:spcPts val="2200"/>
              </a:spcBef>
              <a:buNone/>
            </a:pPr>
            <a:r>
              <a:rPr lang="en-US" sz="1700" i="1" dirty="0">
                <a:solidFill>
                  <a:srgbClr val="2B2722"/>
                </a:solidFill>
                <a:latin typeface="Georgia" pitchFamily="34" charset="0"/>
                <a:ea typeface="Georgia" pitchFamily="34" charset="-122"/>
                <a:cs typeface="Georgia" pitchFamily="34" charset="-120"/>
              </a:rPr>
              <a:t>They all kept a notebook. None of them had one that remembered.</a:t>
            </a:r>
            <a:endParaRPr lang="en-US" sz="1700" dirty="0"/>
          </a:p>
        </p:txBody>
      </p:sp>
      <p:pic>
        <p:nvPicPr>
          <p:cNvPr id="6" name="Image 0" descr="/Users/konradgnat/dev/startups/luminalog/luminalog-oss/web/public/demo-day/shot-home.png">    </p:cNvPr>
          <p:cNvPicPr>
            <a:picLocks noChangeAspect="1"/>
          </p:cNvPicPr>
          <p:nvPr/>
        </p:nvPicPr>
        <p:blipFill>
          <a:blip r:embed="rId1"/>
          <a:stretch>
            <a:fillRect/>
          </a:stretch>
        </p:blipFill>
        <p:spPr>
          <a:xfrm>
            <a:off x="5029200" y="381000"/>
            <a:ext cx="1650950" cy="3568601"/>
          </a:xfrm>
          <a:prstGeom prst="rect">
            <a:avLst/>
          </a:prstGeom>
        </p:spPr>
      </p:pic>
      <p:pic>
        <p:nvPicPr>
          <p:cNvPr id="7" name="Image 1" descr="/Users/konradgnat/dev/startups/luminalog/luminalog-oss/web/public/demo-day/shot-entry.png">    </p:cNvPr>
          <p:cNvPicPr>
            <a:picLocks noChangeAspect="1"/>
          </p:cNvPicPr>
          <p:nvPr/>
        </p:nvPicPr>
        <p:blipFill>
          <a:blip r:embed="rId2"/>
          <a:stretch>
            <a:fillRect/>
          </a:stretch>
        </p:blipFill>
        <p:spPr>
          <a:xfrm>
            <a:off x="6832550" y="952500"/>
            <a:ext cx="1384250" cy="29971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30E"/>
        </a:solidFill>
      </p:bgPr>
    </p:bg>
    <p:spTree>
      <p:nvGrpSpPr>
        <p:cNvPr id="1" name=""/>
        <p:cNvGrpSpPr/>
        <p:nvPr/>
      </p:nvGrpSpPr>
      <p:grpSpPr>
        <a:xfrm>
          <a:off x="0" y="0"/>
          <a:ext cx="0" cy="0"/>
          <a:chOff x="0" y="0"/>
          <a:chExt cx="0" cy="0"/>
        </a:xfrm>
      </p:grpSpPr>
      <p:sp>
        <p:nvSpPr>
          <p:cNvPr id="2" name="Text 0"/>
          <p:cNvSpPr/>
          <p:nvPr/>
        </p:nvSpPr>
        <p:spPr>
          <a:xfrm>
            <a:off x="635050" y="539800"/>
            <a:ext cx="7873901" cy="4063901"/>
          </a:xfrm>
          <a:prstGeom prst="roundRect">
            <a:avLst>
              <a:gd name="adj" fmla="val 2813"/>
            </a:avLst>
          </a:prstGeom>
          <a:solidFill>
            <a:srgbClr val="1D1811"/>
          </a:solidFill>
          <a:ln w="19050">
            <a:solidFill>
              <a:srgbClr val="CE7F44"/>
            </a:solidFill>
          </a:ln>
        </p:spPr>
        <p:txBody>
          <a:bodyPr wrap="square" rtlCol="0" anchor="ctr"/>
          <a:lstStyle/>
          <a:p>
            <a:pPr indent="0" marL="0">
              <a:buNone/>
            </a:pPr>
            <a:endParaRPr lang="en-US" dirty="0"/>
          </a:p>
        </p:txBody>
      </p:sp>
      <p:sp>
        <p:nvSpPr>
          <p:cNvPr id="3" name="Text 1"/>
          <p:cNvSpPr/>
          <p:nvPr/>
        </p:nvSpPr>
        <p:spPr>
          <a:xfrm>
            <a:off x="756996" y="2047875"/>
            <a:ext cx="7630007" cy="371475"/>
          </a:xfrm>
          <a:prstGeom prst="rect">
            <a:avLst/>
          </a:prstGeom>
          <a:noFill/>
          <a:ln/>
        </p:spPr>
        <p:txBody>
          <a:bodyPr wrap="square" lIns="0" tIns="0" rIns="0" bIns="0" rtlCol="0" anchor="t"/>
          <a:lstStyle/>
          <a:p>
            <a:pPr algn="ctr" indent="0" marL="0">
              <a:buNone/>
            </a:pPr>
            <a:r>
              <a:rPr lang="en-US" sz="2400" b="1" dirty="0">
                <a:solidFill>
                  <a:srgbClr val="F5C842"/>
                </a:solidFill>
                <a:latin typeface="Arial" pitchFamily="34" charset="0"/>
                <a:ea typeface="Arial" pitchFamily="34" charset="-122"/>
                <a:cs typeface="Arial" pitchFamily="34" charset="-120"/>
              </a:rPr>
              <a:t>▶</a:t>
            </a:r>
            <a:endParaRPr lang="en-US" sz="2400" dirty="0"/>
          </a:p>
        </p:txBody>
      </p:sp>
      <p:sp>
        <p:nvSpPr>
          <p:cNvPr id="4" name="Text 2"/>
          <p:cNvSpPr/>
          <p:nvPr/>
        </p:nvSpPr>
        <p:spPr>
          <a:xfrm>
            <a:off x="756996" y="2571750"/>
            <a:ext cx="7630007" cy="238125"/>
          </a:xfrm>
          <a:prstGeom prst="rect">
            <a:avLst/>
          </a:prstGeom>
          <a:noFill/>
          <a:ln/>
        </p:spPr>
        <p:txBody>
          <a:bodyPr wrap="square" lIns="0" tIns="0" rIns="0" bIns="0" rtlCol="0" anchor="t"/>
          <a:lstStyle/>
          <a:p>
            <a:pPr algn="ctr" indent="0" marL="0">
              <a:spcBef>
                <a:spcPts val="1200"/>
              </a:spcBef>
              <a:buNone/>
            </a:pPr>
            <a:r>
              <a:rPr lang="en-US" sz="1600" dirty="0">
                <a:solidFill>
                  <a:srgbClr val="F3EEE4"/>
                </a:solidFill>
                <a:latin typeface="Georgia" pitchFamily="34" charset="0"/>
                <a:ea typeface="Georgia" pitchFamily="34" charset="-122"/>
                <a:cs typeface="Georgia" pitchFamily="34" charset="-120"/>
              </a:rPr>
              <a:t>Launch film, 30 seconds, full bleed, sound up</a:t>
            </a:r>
            <a:endParaRPr lang="en-US" sz="1600" dirty="0"/>
          </a:p>
        </p:txBody>
      </p:sp>
      <p:sp>
        <p:nvSpPr>
          <p:cNvPr id="5" name="Text 3"/>
          <p:cNvSpPr/>
          <p:nvPr/>
        </p:nvSpPr>
        <p:spPr>
          <a:xfrm>
            <a:off x="756996" y="2962275"/>
            <a:ext cx="7630007" cy="133350"/>
          </a:xfrm>
          <a:prstGeom prst="rect">
            <a:avLst/>
          </a:prstGeom>
          <a:noFill/>
          <a:ln/>
        </p:spPr>
        <p:txBody>
          <a:bodyPr wrap="square" lIns="0" tIns="0" rIns="0" bIns="0" rtlCol="0" anchor="t"/>
          <a:lstStyle/>
          <a:p>
            <a:pPr algn="ctr" indent="0" marL="0">
              <a:lnSpc>
                <a:spcPts val="1050"/>
              </a:lnSpc>
              <a:spcBef>
                <a:spcPts val="1200"/>
              </a:spcBef>
              <a:buNone/>
            </a:pPr>
            <a:r>
              <a:rPr lang="en-US" sz="750" dirty="0">
                <a:solidFill>
                  <a:srgbClr val="A89E8F"/>
                </a:solidFill>
                <a:latin typeface="Arial" pitchFamily="34" charset="0"/>
                <a:ea typeface="Arial" pitchFamily="34" charset="-122"/>
                <a:cs typeface="Arial" pitchFamily="34" charset="-120"/>
              </a:rPr>
              <a:t>Placeholder. The ten thirty-second spots are scripted and storyboarded in final-demo-day/launch-ad/, but no cut film exists yet.</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0E9"/>
        </a:solidFill>
      </p:bgPr>
    </p:bg>
    <p:spTree>
      <p:nvGrpSpPr>
        <p:cNvPr id="1" name=""/>
        <p:cNvGrpSpPr/>
        <p:nvPr/>
      </p:nvGrpSpPr>
      <p:grpSpPr>
        <a:xfrm>
          <a:off x="0" y="0"/>
          <a:ext cx="0" cy="0"/>
          <a:chOff x="0" y="0"/>
          <a:chExt cx="0" cy="0"/>
        </a:xfrm>
      </p:grpSpPr>
      <p:sp>
        <p:nvSpPr>
          <p:cNvPr id="2" name="Text 0"/>
          <p:cNvSpPr/>
          <p:nvPr/>
        </p:nvSpPr>
        <p:spPr>
          <a:xfrm>
            <a:off x="533400" y="381000"/>
            <a:ext cx="8238744" cy="114300"/>
          </a:xfrm>
          <a:prstGeom prst="rect">
            <a:avLst/>
          </a:prstGeom>
          <a:noFill/>
          <a:ln/>
        </p:spPr>
        <p:txBody>
          <a:bodyPr wrap="square" lIns="0" tIns="0" rIns="0" bIns="0" rtlCol="0" anchor="t"/>
          <a:lstStyle/>
          <a:p>
            <a:pPr algn="l" indent="0" marL="0">
              <a:spcAft>
                <a:spcPts val="1200"/>
              </a:spcAft>
              <a:buNone/>
            </a:pPr>
            <a:r>
              <a:rPr lang="en-US" sz="850" b="1" dirty="0">
                <a:solidFill>
                  <a:srgbClr val="B96B33"/>
                </a:solidFill>
                <a:latin typeface="Arial" pitchFamily="34" charset="0"/>
                <a:ea typeface="Arial" pitchFamily="34" charset="-122"/>
                <a:cs typeface="Arial" pitchFamily="34" charset="-120"/>
              </a:rPr>
              <a:t>LIVE ON THE DEVICE</a:t>
            </a:r>
            <a:endParaRPr lang="en-US" sz="850" dirty="0"/>
          </a:p>
        </p:txBody>
      </p:sp>
      <p:sp>
        <p:nvSpPr>
          <p:cNvPr id="3" name="Text 1"/>
          <p:cNvSpPr/>
          <p:nvPr/>
        </p:nvSpPr>
        <p:spPr>
          <a:xfrm>
            <a:off x="533400" y="647700"/>
            <a:ext cx="8238744" cy="342900"/>
          </a:xfrm>
          <a:prstGeom prst="rect">
            <a:avLst/>
          </a:prstGeom>
          <a:noFill/>
          <a:ln/>
        </p:spPr>
        <p:txBody>
          <a:bodyPr wrap="square" lIns="0" tIns="0" rIns="0" bIns="0" rtlCol="0" anchor="t"/>
          <a:lstStyle/>
          <a:p>
            <a:pPr algn="l" indent="0" marL="0">
              <a:buNone/>
            </a:pPr>
            <a:r>
              <a:rPr lang="en-US" sz="2400" b="1" dirty="0">
                <a:solidFill>
                  <a:srgbClr val="2B2722"/>
                </a:solidFill>
                <a:latin typeface="Georgia" pitchFamily="34" charset="0"/>
                <a:ea typeface="Georgia" pitchFamily="34" charset="-122"/>
                <a:cs typeface="Georgia" pitchFamily="34" charset="-120"/>
              </a:rPr>
              <a:t>Three moves. No menus.</a:t>
            </a:r>
            <a:endParaRPr lang="en-US" sz="2400" dirty="0"/>
          </a:p>
        </p:txBody>
      </p:sp>
      <p:pic>
        <p:nvPicPr>
          <p:cNvPr id="4" name="Image 0" descr="/Users/konradgnat/dev/startups/luminalog/luminalog-oss/web/public/demo-day/shot-record.png">    </p:cNvPr>
          <p:cNvPicPr>
            <a:picLocks noChangeAspect="1"/>
          </p:cNvPicPr>
          <p:nvPr/>
        </p:nvPicPr>
        <p:blipFill>
          <a:blip r:embed="rId1"/>
          <a:stretch>
            <a:fillRect/>
          </a:stretch>
        </p:blipFill>
        <p:spPr>
          <a:xfrm>
            <a:off x="2025700" y="1193750"/>
            <a:ext cx="1231850" cy="2667000"/>
          </a:xfrm>
          <a:prstGeom prst="rect">
            <a:avLst/>
          </a:prstGeom>
        </p:spPr>
      </p:pic>
      <p:sp>
        <p:nvSpPr>
          <p:cNvPr id="5" name="Text 2"/>
          <p:cNvSpPr/>
          <p:nvPr/>
        </p:nvSpPr>
        <p:spPr>
          <a:xfrm>
            <a:off x="1312060" y="4000351"/>
            <a:ext cx="2202079" cy="114300"/>
          </a:xfrm>
          <a:prstGeom prst="rect">
            <a:avLst/>
          </a:prstGeom>
          <a:noFill/>
          <a:ln/>
        </p:spPr>
        <p:txBody>
          <a:bodyPr wrap="square" lIns="0" tIns="0" rIns="0" bIns="0" rtlCol="0" anchor="t"/>
          <a:lstStyle/>
          <a:p>
            <a:pPr algn="ctr" indent="0" marL="0">
              <a:spcBef>
                <a:spcPts val="800"/>
              </a:spcBef>
              <a:buNone/>
            </a:pPr>
            <a:r>
              <a:rPr lang="en-US" sz="800" b="1" dirty="0">
                <a:solidFill>
                  <a:srgbClr val="B96B33"/>
                </a:solidFill>
                <a:latin typeface="Arial" pitchFamily="34" charset="0"/>
                <a:ea typeface="Arial" pitchFamily="34" charset="-122"/>
                <a:cs typeface="Arial" pitchFamily="34" charset="-120"/>
              </a:rPr>
              <a:t>ONE</a:t>
            </a:r>
            <a:endParaRPr lang="en-US" sz="800" dirty="0"/>
          </a:p>
        </p:txBody>
      </p:sp>
      <p:sp>
        <p:nvSpPr>
          <p:cNvPr id="6" name="Text 3"/>
          <p:cNvSpPr/>
          <p:nvPr/>
        </p:nvSpPr>
        <p:spPr>
          <a:xfrm>
            <a:off x="1312060" y="4165402"/>
            <a:ext cx="2202079" cy="133350"/>
          </a:xfrm>
          <a:prstGeom prst="rect">
            <a:avLst/>
          </a:prstGeom>
          <a:noFill/>
          <a:ln/>
        </p:spPr>
        <p:txBody>
          <a:bodyPr wrap="square" lIns="0" tIns="0" rIns="0" bIns="0" rtlCol="0" anchor="t"/>
          <a:lstStyle/>
          <a:p>
            <a:pPr algn="ctr" indent="0" marL="0">
              <a:spcBef>
                <a:spcPts val="400"/>
              </a:spcBef>
              <a:buNone/>
            </a:pPr>
            <a:r>
              <a:rPr lang="en-US" sz="950" dirty="0">
                <a:solidFill>
                  <a:srgbClr val="7C7468"/>
                </a:solidFill>
                <a:latin typeface="Arial" pitchFamily="34" charset="0"/>
                <a:ea typeface="Arial" pitchFamily="34" charset="-122"/>
                <a:cs typeface="Arial" pitchFamily="34" charset="-120"/>
              </a:rPr>
              <a:t>Talk. It captures and transcribes.</a:t>
            </a:r>
            <a:endParaRPr lang="en-US" sz="950" dirty="0"/>
          </a:p>
        </p:txBody>
      </p:sp>
      <p:pic>
        <p:nvPicPr>
          <p:cNvPr id="7" name="Image 1" descr="/Users/konradgnat/dev/startups/luminalog/luminalog-oss/web/public/demo-day/shot-entry.png">    </p:cNvPr>
          <p:cNvPicPr>
            <a:picLocks noChangeAspect="1"/>
          </p:cNvPicPr>
          <p:nvPr/>
        </p:nvPicPr>
        <p:blipFill>
          <a:blip r:embed="rId2"/>
          <a:stretch>
            <a:fillRect/>
          </a:stretch>
        </p:blipFill>
        <p:spPr>
          <a:xfrm>
            <a:off x="4184600" y="1193750"/>
            <a:ext cx="1231850" cy="2667000"/>
          </a:xfrm>
          <a:prstGeom prst="rect">
            <a:avLst/>
          </a:prstGeom>
        </p:spPr>
      </p:pic>
      <p:sp>
        <p:nvSpPr>
          <p:cNvPr id="8" name="Text 4"/>
          <p:cNvSpPr/>
          <p:nvPr/>
        </p:nvSpPr>
        <p:spPr>
          <a:xfrm>
            <a:off x="3470961" y="4000351"/>
            <a:ext cx="2202079" cy="114300"/>
          </a:xfrm>
          <a:prstGeom prst="rect">
            <a:avLst/>
          </a:prstGeom>
          <a:noFill/>
          <a:ln/>
        </p:spPr>
        <p:txBody>
          <a:bodyPr wrap="square" lIns="0" tIns="0" rIns="0" bIns="0" rtlCol="0" anchor="t"/>
          <a:lstStyle/>
          <a:p>
            <a:pPr algn="ctr" indent="0" marL="0">
              <a:spcBef>
                <a:spcPts val="800"/>
              </a:spcBef>
              <a:buNone/>
            </a:pPr>
            <a:r>
              <a:rPr lang="en-US" sz="800" b="1" dirty="0">
                <a:solidFill>
                  <a:srgbClr val="B96B33"/>
                </a:solidFill>
                <a:latin typeface="Arial" pitchFamily="34" charset="0"/>
                <a:ea typeface="Arial" pitchFamily="34" charset="-122"/>
                <a:cs typeface="Arial" pitchFamily="34" charset="-120"/>
              </a:rPr>
              <a:t>TWO</a:t>
            </a:r>
            <a:endParaRPr lang="en-US" sz="800" dirty="0"/>
          </a:p>
        </p:txBody>
      </p:sp>
      <p:sp>
        <p:nvSpPr>
          <p:cNvPr id="9" name="Text 5"/>
          <p:cNvSpPr/>
          <p:nvPr/>
        </p:nvSpPr>
        <p:spPr>
          <a:xfrm>
            <a:off x="3470961" y="4165402"/>
            <a:ext cx="2202079" cy="266700"/>
          </a:xfrm>
          <a:prstGeom prst="rect">
            <a:avLst/>
          </a:prstGeom>
          <a:noFill/>
          <a:ln/>
        </p:spPr>
        <p:txBody>
          <a:bodyPr wrap="square" lIns="0" tIns="0" rIns="0" bIns="0" rtlCol="0" anchor="t"/>
          <a:lstStyle/>
          <a:p>
            <a:pPr algn="ctr" indent="0" marL="0">
              <a:spcBef>
                <a:spcPts val="400"/>
              </a:spcBef>
              <a:buNone/>
            </a:pPr>
            <a:r>
              <a:rPr lang="en-US" sz="950" dirty="0">
                <a:solidFill>
                  <a:srgbClr val="7C7468"/>
                </a:solidFill>
                <a:latin typeface="Arial" pitchFamily="34" charset="0"/>
                <a:ea typeface="Arial" pitchFamily="34" charset="-122"/>
                <a:cs typeface="Arial" pitchFamily="34" charset="-120"/>
              </a:rPr>
              <a:t>It reads you back, and surfaces what you forgot.</a:t>
            </a:r>
            <a:endParaRPr lang="en-US" sz="950" dirty="0"/>
          </a:p>
        </p:txBody>
      </p:sp>
      <p:pic>
        <p:nvPicPr>
          <p:cNvPr id="10" name="Image 2" descr="/Users/konradgnat/dev/startups/luminalog/luminalog-oss/web/public/demo-day/shot-constellation.png">    </p:cNvPr>
          <p:cNvPicPr>
            <a:picLocks noChangeAspect="1"/>
          </p:cNvPicPr>
          <p:nvPr/>
        </p:nvPicPr>
        <p:blipFill>
          <a:blip r:embed="rId3"/>
          <a:stretch>
            <a:fillRect/>
          </a:stretch>
        </p:blipFill>
        <p:spPr>
          <a:xfrm>
            <a:off x="6343501" y="1193750"/>
            <a:ext cx="1231850" cy="2667000"/>
          </a:xfrm>
          <a:prstGeom prst="rect">
            <a:avLst/>
          </a:prstGeom>
        </p:spPr>
      </p:pic>
      <p:sp>
        <p:nvSpPr>
          <p:cNvPr id="11" name="Text 6"/>
          <p:cNvSpPr/>
          <p:nvPr/>
        </p:nvSpPr>
        <p:spPr>
          <a:xfrm>
            <a:off x="5629861" y="4000351"/>
            <a:ext cx="2202079" cy="114300"/>
          </a:xfrm>
          <a:prstGeom prst="rect">
            <a:avLst/>
          </a:prstGeom>
          <a:noFill/>
          <a:ln/>
        </p:spPr>
        <p:txBody>
          <a:bodyPr wrap="square" lIns="0" tIns="0" rIns="0" bIns="0" rtlCol="0" anchor="t"/>
          <a:lstStyle/>
          <a:p>
            <a:pPr algn="ctr" indent="0" marL="0">
              <a:spcBef>
                <a:spcPts val="800"/>
              </a:spcBef>
              <a:buNone/>
            </a:pPr>
            <a:r>
              <a:rPr lang="en-US" sz="800" b="1" dirty="0">
                <a:solidFill>
                  <a:srgbClr val="B96B33"/>
                </a:solidFill>
                <a:latin typeface="Arial" pitchFamily="34" charset="0"/>
                <a:ea typeface="Arial" pitchFamily="34" charset="-122"/>
                <a:cs typeface="Arial" pitchFamily="34" charset="-120"/>
              </a:rPr>
              <a:t>THREE</a:t>
            </a:r>
            <a:endParaRPr lang="en-US" sz="800" dirty="0"/>
          </a:p>
        </p:txBody>
      </p:sp>
      <p:sp>
        <p:nvSpPr>
          <p:cNvPr id="12" name="Text 7"/>
          <p:cNvSpPr/>
          <p:nvPr/>
        </p:nvSpPr>
        <p:spPr>
          <a:xfrm>
            <a:off x="5629861" y="4165402"/>
            <a:ext cx="2202079" cy="133350"/>
          </a:xfrm>
          <a:prstGeom prst="rect">
            <a:avLst/>
          </a:prstGeom>
          <a:noFill/>
          <a:ln/>
        </p:spPr>
        <p:txBody>
          <a:bodyPr wrap="square" lIns="0" tIns="0" rIns="0" bIns="0" rtlCol="0" anchor="t"/>
          <a:lstStyle/>
          <a:p>
            <a:pPr algn="ctr" indent="0" marL="0">
              <a:spcBef>
                <a:spcPts val="400"/>
              </a:spcBef>
              <a:buNone/>
            </a:pPr>
            <a:r>
              <a:rPr lang="en-US" sz="950" dirty="0">
                <a:solidFill>
                  <a:srgbClr val="7C7468"/>
                </a:solidFill>
                <a:latin typeface="Arial" pitchFamily="34" charset="0"/>
                <a:ea typeface="Arial" pitchFamily="34" charset="-122"/>
                <a:cs typeface="Arial" pitchFamily="34" charset="-120"/>
              </a:rPr>
              <a:t>The day becomes a star in your Soul.</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30E"/>
        </a:solidFill>
      </p:bgPr>
    </p:bg>
    <p:spTree>
      <p:nvGrpSpPr>
        <p:cNvPr id="1" name=""/>
        <p:cNvGrpSpPr/>
        <p:nvPr/>
      </p:nvGrpSpPr>
      <p:grpSpPr>
        <a:xfrm>
          <a:off x="0" y="0"/>
          <a:ext cx="0" cy="0"/>
          <a:chOff x="0" y="0"/>
          <a:chExt cx="0" cy="0"/>
        </a:xfrm>
      </p:grpSpPr>
      <p:sp>
        <p:nvSpPr>
          <p:cNvPr id="2" name="Text 0"/>
          <p:cNvSpPr/>
          <p:nvPr/>
        </p:nvSpPr>
        <p:spPr>
          <a:xfrm>
            <a:off x="533400" y="381000"/>
            <a:ext cx="8238744" cy="114300"/>
          </a:xfrm>
          <a:prstGeom prst="rect">
            <a:avLst/>
          </a:prstGeom>
          <a:noFill/>
          <a:ln/>
        </p:spPr>
        <p:txBody>
          <a:bodyPr wrap="square" lIns="0" tIns="0" rIns="0" bIns="0" rtlCol="0" anchor="t"/>
          <a:lstStyle/>
          <a:p>
            <a:pPr algn="l" indent="0" marL="0">
              <a:spcAft>
                <a:spcPts val="1200"/>
              </a:spcAft>
              <a:buNone/>
            </a:pPr>
            <a:r>
              <a:rPr lang="en-US" sz="850" b="1" dirty="0">
                <a:solidFill>
                  <a:srgbClr val="E5A063"/>
                </a:solidFill>
                <a:latin typeface="Arial" pitchFamily="34" charset="0"/>
                <a:ea typeface="Arial" pitchFamily="34" charset="-122"/>
                <a:cs typeface="Arial" pitchFamily="34" charset="-120"/>
              </a:rPr>
              <a:t>PRIVACY IS ARCHITECTURE, NOT POLICY</a:t>
            </a:r>
            <a:endParaRPr lang="en-US" sz="850" dirty="0"/>
          </a:p>
        </p:txBody>
      </p:sp>
      <p:sp>
        <p:nvSpPr>
          <p:cNvPr id="3" name="Text 1"/>
          <p:cNvSpPr/>
          <p:nvPr/>
        </p:nvSpPr>
        <p:spPr>
          <a:xfrm>
            <a:off x="533400" y="647700"/>
            <a:ext cx="8238744" cy="457200"/>
          </a:xfrm>
          <a:prstGeom prst="rect">
            <a:avLst/>
          </a:prstGeom>
          <a:noFill/>
          <a:ln/>
        </p:spPr>
        <p:txBody>
          <a:bodyPr wrap="square" lIns="0" tIns="0" rIns="0" bIns="0" rtlCol="0" anchor="t"/>
          <a:lstStyle/>
          <a:p>
            <a:pPr algn="l" indent="0" marL="0">
              <a:buNone/>
            </a:pPr>
            <a:r>
              <a:rPr lang="en-US" sz="3200" b="1" dirty="0">
                <a:solidFill>
                  <a:srgbClr val="F3EEE4"/>
                </a:solidFill>
                <a:latin typeface="Georgia" pitchFamily="34" charset="0"/>
                <a:ea typeface="Georgia" pitchFamily="34" charset="-122"/>
                <a:cs typeface="Georgia" pitchFamily="34" charset="-120"/>
              </a:rPr>
              <a:t>Nobody can read it. Not even us.</a:t>
            </a:r>
            <a:endParaRPr lang="en-US" sz="3200" dirty="0"/>
          </a:p>
        </p:txBody>
      </p:sp>
      <p:sp>
        <p:nvSpPr>
          <p:cNvPr id="4" name="Text 2"/>
          <p:cNvSpPr/>
          <p:nvPr/>
        </p:nvSpPr>
        <p:spPr>
          <a:xfrm>
            <a:off x="533400" y="1460450"/>
            <a:ext cx="2362200" cy="1307455"/>
          </a:xfrm>
          <a:prstGeom prst="roundRect">
            <a:avLst>
              <a:gd name="adj" fmla="val 8742"/>
            </a:avLst>
          </a:prstGeom>
          <a:solidFill>
            <a:srgbClr val="221E18"/>
          </a:solidFill>
          <a:ln w="9525">
            <a:solidFill>
              <a:srgbClr val="332D24"/>
            </a:solidFill>
          </a:ln>
        </p:spPr>
        <p:txBody>
          <a:bodyPr wrap="square" rtlCol="0" anchor="ctr"/>
          <a:lstStyle/>
          <a:p>
            <a:pPr indent="0" marL="0">
              <a:buNone/>
            </a:pPr>
            <a:endParaRPr lang="en-US" dirty="0"/>
          </a:p>
        </p:txBody>
      </p:sp>
      <p:sp>
        <p:nvSpPr>
          <p:cNvPr id="5" name="Text 3"/>
          <p:cNvSpPr/>
          <p:nvPr/>
        </p:nvSpPr>
        <p:spPr>
          <a:xfrm>
            <a:off x="746075" y="1673126"/>
            <a:ext cx="1975586" cy="209550"/>
          </a:xfrm>
          <a:prstGeom prst="rect">
            <a:avLst/>
          </a:prstGeom>
          <a:noFill/>
          <a:ln/>
        </p:spPr>
        <p:txBody>
          <a:bodyPr wrap="square" lIns="0" tIns="0" rIns="0" bIns="0" rtlCol="0" anchor="t"/>
          <a:lstStyle/>
          <a:p>
            <a:pPr algn="l" indent="0" marL="0">
              <a:buNone/>
            </a:pPr>
            <a:r>
              <a:rPr lang="en-US" sz="1500" dirty="0">
                <a:solidFill>
                  <a:srgbClr val="F5C842"/>
                </a:solidFill>
                <a:latin typeface="Georgia" pitchFamily="34" charset="0"/>
                <a:ea typeface="Georgia" pitchFamily="34" charset="-122"/>
                <a:cs typeface="Georgia" pitchFamily="34" charset="-120"/>
              </a:rPr>
              <a:t>Zero knowledge</a:t>
            </a:r>
            <a:endParaRPr lang="en-US" sz="1500" dirty="0"/>
          </a:p>
        </p:txBody>
      </p:sp>
      <p:sp>
        <p:nvSpPr>
          <p:cNvPr id="6" name="Text 4"/>
          <p:cNvSpPr/>
          <p:nvPr/>
        </p:nvSpPr>
        <p:spPr>
          <a:xfrm>
            <a:off x="746075" y="1984177"/>
            <a:ext cx="1975586" cy="571054"/>
          </a:xfrm>
          <a:prstGeom prst="rect">
            <a:avLst/>
          </a:prstGeom>
          <a:noFill/>
          <a:ln/>
        </p:spPr>
        <p:txBody>
          <a:bodyPr wrap="square" lIns="0" tIns="0" rIns="0" bIns="0" rtlCol="0" anchor="t"/>
          <a:lstStyle/>
          <a:p>
            <a:pPr algn="l" indent="0" marL="0">
              <a:lnSpc>
                <a:spcPts val="1500"/>
              </a:lnSpc>
              <a:spcBef>
                <a:spcPts val="800"/>
              </a:spcBef>
              <a:buNone/>
            </a:pPr>
            <a:r>
              <a:rPr lang="en-US" sz="1000" dirty="0">
                <a:solidFill>
                  <a:srgbClr val="A89E8F"/>
                </a:solidFill>
                <a:latin typeface="Arial" pitchFamily="34" charset="0"/>
                <a:ea typeface="Arial" pitchFamily="34" charset="-122"/>
                <a:cs typeface="Arial" pitchFamily="34" charset="-120"/>
              </a:rPr>
              <a:t>Encrypted on your device with a key that only exists there. Our servers hold ciphertext.</a:t>
            </a:r>
            <a:endParaRPr lang="en-US" sz="1000" dirty="0"/>
          </a:p>
        </p:txBody>
      </p:sp>
      <p:sp>
        <p:nvSpPr>
          <p:cNvPr id="7" name="Text 5"/>
          <p:cNvSpPr/>
          <p:nvPr/>
        </p:nvSpPr>
        <p:spPr>
          <a:xfrm>
            <a:off x="3073301" y="1460450"/>
            <a:ext cx="2362200" cy="1307455"/>
          </a:xfrm>
          <a:prstGeom prst="roundRect">
            <a:avLst>
              <a:gd name="adj" fmla="val 8742"/>
            </a:avLst>
          </a:prstGeom>
          <a:solidFill>
            <a:srgbClr val="221E18"/>
          </a:solidFill>
          <a:ln w="9525">
            <a:solidFill>
              <a:srgbClr val="332D24"/>
            </a:solidFill>
          </a:ln>
        </p:spPr>
        <p:txBody>
          <a:bodyPr wrap="square" rtlCol="0" anchor="ctr"/>
          <a:lstStyle/>
          <a:p>
            <a:pPr indent="0" marL="0">
              <a:buNone/>
            </a:pPr>
            <a:endParaRPr lang="en-US" dirty="0"/>
          </a:p>
        </p:txBody>
      </p:sp>
      <p:sp>
        <p:nvSpPr>
          <p:cNvPr id="8" name="Text 6"/>
          <p:cNvSpPr/>
          <p:nvPr/>
        </p:nvSpPr>
        <p:spPr>
          <a:xfrm>
            <a:off x="3285976" y="1673126"/>
            <a:ext cx="1975586" cy="209550"/>
          </a:xfrm>
          <a:prstGeom prst="rect">
            <a:avLst/>
          </a:prstGeom>
          <a:noFill/>
          <a:ln/>
        </p:spPr>
        <p:txBody>
          <a:bodyPr wrap="square" lIns="0" tIns="0" rIns="0" bIns="0" rtlCol="0" anchor="t"/>
          <a:lstStyle/>
          <a:p>
            <a:pPr algn="l" indent="0" marL="0">
              <a:buNone/>
            </a:pPr>
            <a:r>
              <a:rPr lang="en-US" sz="1500" dirty="0">
                <a:solidFill>
                  <a:srgbClr val="F5C842"/>
                </a:solidFill>
                <a:latin typeface="Georgia" pitchFamily="34" charset="0"/>
                <a:ea typeface="Georgia" pitchFamily="34" charset="-122"/>
                <a:cs typeface="Georgia" pitchFamily="34" charset="-120"/>
              </a:rPr>
              <a:t>Open source</a:t>
            </a:r>
            <a:endParaRPr lang="en-US" sz="1500" dirty="0"/>
          </a:p>
        </p:txBody>
      </p:sp>
      <p:sp>
        <p:nvSpPr>
          <p:cNvPr id="9" name="Text 7"/>
          <p:cNvSpPr/>
          <p:nvPr/>
        </p:nvSpPr>
        <p:spPr>
          <a:xfrm>
            <a:off x="3285976" y="1984177"/>
            <a:ext cx="1975586" cy="380702"/>
          </a:xfrm>
          <a:prstGeom prst="rect">
            <a:avLst/>
          </a:prstGeom>
          <a:noFill/>
          <a:ln/>
        </p:spPr>
        <p:txBody>
          <a:bodyPr wrap="square" lIns="0" tIns="0" rIns="0" bIns="0" rtlCol="0" anchor="t"/>
          <a:lstStyle/>
          <a:p>
            <a:pPr algn="l" indent="0" marL="0">
              <a:lnSpc>
                <a:spcPts val="1500"/>
              </a:lnSpc>
              <a:spcBef>
                <a:spcPts val="800"/>
              </a:spcBef>
              <a:buNone/>
            </a:pPr>
            <a:r>
              <a:rPr lang="en-US" sz="1000" dirty="0">
                <a:solidFill>
                  <a:srgbClr val="A89E8F"/>
                </a:solidFill>
                <a:latin typeface="Arial" pitchFamily="34" charset="0"/>
                <a:ea typeface="Arial" pitchFamily="34" charset="-122"/>
                <a:cs typeface="Arial" pitchFamily="34" charset="-120"/>
              </a:rPr>
              <a:t>You do not have to take my word for any of it. You can read it.</a:t>
            </a:r>
            <a:endParaRPr lang="en-US" sz="1000" dirty="0"/>
          </a:p>
        </p:txBody>
      </p:sp>
      <p:sp>
        <p:nvSpPr>
          <p:cNvPr id="10" name="Text 8"/>
          <p:cNvSpPr/>
          <p:nvPr/>
        </p:nvSpPr>
        <p:spPr>
          <a:xfrm>
            <a:off x="5613202" y="1460450"/>
            <a:ext cx="2362200" cy="1307455"/>
          </a:xfrm>
          <a:prstGeom prst="roundRect">
            <a:avLst>
              <a:gd name="adj" fmla="val 8742"/>
            </a:avLst>
          </a:prstGeom>
          <a:solidFill>
            <a:srgbClr val="221E18"/>
          </a:solidFill>
          <a:ln w="9525">
            <a:solidFill>
              <a:srgbClr val="332D24"/>
            </a:solidFill>
          </a:ln>
        </p:spPr>
        <p:txBody>
          <a:bodyPr wrap="square" rtlCol="0" anchor="ctr"/>
          <a:lstStyle/>
          <a:p>
            <a:pPr indent="0" marL="0">
              <a:buNone/>
            </a:pPr>
            <a:endParaRPr lang="en-US" dirty="0"/>
          </a:p>
        </p:txBody>
      </p:sp>
      <p:sp>
        <p:nvSpPr>
          <p:cNvPr id="11" name="Text 9"/>
          <p:cNvSpPr/>
          <p:nvPr/>
        </p:nvSpPr>
        <p:spPr>
          <a:xfrm>
            <a:off x="5825877" y="1673126"/>
            <a:ext cx="1975586" cy="209550"/>
          </a:xfrm>
          <a:prstGeom prst="rect">
            <a:avLst/>
          </a:prstGeom>
          <a:noFill/>
          <a:ln/>
        </p:spPr>
        <p:txBody>
          <a:bodyPr wrap="square" lIns="0" tIns="0" rIns="0" bIns="0" rtlCol="0" anchor="t"/>
          <a:lstStyle/>
          <a:p>
            <a:pPr algn="l" indent="0" marL="0">
              <a:buNone/>
            </a:pPr>
            <a:r>
              <a:rPr lang="en-US" sz="1500" dirty="0">
                <a:solidFill>
                  <a:srgbClr val="F5C842"/>
                </a:solidFill>
                <a:latin typeface="Georgia" pitchFamily="34" charset="0"/>
                <a:ea typeface="Georgia" pitchFamily="34" charset="-122"/>
                <a:cs typeface="Georgia" pitchFamily="34" charset="-120"/>
              </a:rPr>
              <a:t>Confidential inference</a:t>
            </a:r>
            <a:endParaRPr lang="en-US" sz="1500" dirty="0"/>
          </a:p>
        </p:txBody>
      </p:sp>
      <p:sp>
        <p:nvSpPr>
          <p:cNvPr id="12" name="Text 10"/>
          <p:cNvSpPr/>
          <p:nvPr/>
        </p:nvSpPr>
        <p:spPr>
          <a:xfrm>
            <a:off x="5825877" y="1984177"/>
            <a:ext cx="1975586" cy="571054"/>
          </a:xfrm>
          <a:prstGeom prst="rect">
            <a:avLst/>
          </a:prstGeom>
          <a:noFill/>
          <a:ln/>
        </p:spPr>
        <p:txBody>
          <a:bodyPr wrap="square" lIns="0" tIns="0" rIns="0" bIns="0" rtlCol="0" anchor="t"/>
          <a:lstStyle/>
          <a:p>
            <a:pPr algn="l" indent="0" marL="0">
              <a:lnSpc>
                <a:spcPts val="1500"/>
              </a:lnSpc>
              <a:spcBef>
                <a:spcPts val="800"/>
              </a:spcBef>
              <a:buNone/>
            </a:pPr>
            <a:r>
              <a:rPr lang="en-US" sz="1000" dirty="0">
                <a:solidFill>
                  <a:srgbClr val="A89E8F"/>
                </a:solidFill>
                <a:latin typeface="Arial" pitchFamily="34" charset="0"/>
                <a:ea typeface="Arial" pitchFamily="34" charset="-122"/>
                <a:cs typeface="Arial" pitchFamily="34" charset="-120"/>
              </a:rPr>
              <a:t>The journal AI runs on Morpheus, inside a trusted execution environment.</a:t>
            </a:r>
            <a:endParaRPr lang="en-US" sz="1000" dirty="0"/>
          </a:p>
        </p:txBody>
      </p:sp>
      <p:sp>
        <p:nvSpPr>
          <p:cNvPr id="13" name="Shape 11"/>
          <p:cNvSpPr/>
          <p:nvPr/>
        </p:nvSpPr>
        <p:spPr>
          <a:xfrm>
            <a:off x="542925" y="3072705"/>
            <a:ext cx="0" cy="361950"/>
          </a:xfrm>
          <a:prstGeom prst="line">
            <a:avLst/>
          </a:prstGeom>
          <a:noFill/>
          <a:ln w="19050">
            <a:solidFill>
              <a:srgbClr val="CE7F44"/>
            </a:solidFill>
            <a:prstDash val="solid"/>
          </a:ln>
        </p:spPr>
      </p:sp>
      <p:sp>
        <p:nvSpPr>
          <p:cNvPr id="14" name="Text 12"/>
          <p:cNvSpPr/>
          <p:nvPr/>
        </p:nvSpPr>
        <p:spPr>
          <a:xfrm>
            <a:off x="704850" y="3072705"/>
            <a:ext cx="7597521" cy="361950"/>
          </a:xfrm>
          <a:prstGeom prst="rect">
            <a:avLst/>
          </a:prstGeom>
          <a:noFill/>
          <a:ln/>
        </p:spPr>
        <p:txBody>
          <a:bodyPr wrap="square" lIns="0" tIns="0" rIns="0" bIns="0" rtlCol="0" anchor="t"/>
          <a:lstStyle/>
          <a:p>
            <a:pPr algn="l" indent="0" marL="0">
              <a:lnSpc>
                <a:spcPts val="1425"/>
              </a:lnSpc>
              <a:buNone/>
            </a:pPr>
            <a:r>
              <a:rPr lang="en-US" sz="950" dirty="0">
                <a:solidFill>
                  <a:srgbClr val="A89E8F"/>
                </a:solidFill>
                <a:latin typeface="Arial" pitchFamily="34" charset="0"/>
                <a:ea typeface="Arial" pitchFamily="34" charset="-122"/>
                <a:cs typeface="Arial" pitchFamily="34" charset="-120"/>
              </a:rPr>
              <a:t>Stated plainly on stage: voice latency currently routes through a separate provider. Moving it back is on the roadmap. Do not extend the confidential inference claim to voice.</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30E"/>
        </a:solidFill>
      </p:bgPr>
    </p:bg>
    <p:spTree>
      <p:nvGrpSpPr>
        <p:cNvPr id="1" name=""/>
        <p:cNvGrpSpPr/>
        <p:nvPr/>
      </p:nvGrpSpPr>
      <p:grpSpPr>
        <a:xfrm>
          <a:off x="0" y="0"/>
          <a:ext cx="0" cy="0"/>
          <a:chOff x="0" y="0"/>
          <a:chExt cx="0" cy="0"/>
        </a:xfrm>
      </p:grpSpPr>
      <p:sp>
        <p:nvSpPr>
          <p:cNvPr id="2" name="Text 0"/>
          <p:cNvSpPr/>
          <p:nvPr/>
        </p:nvSpPr>
        <p:spPr>
          <a:xfrm>
            <a:off x="533400" y="1145679"/>
            <a:ext cx="4922419" cy="114300"/>
          </a:xfrm>
          <a:prstGeom prst="rect">
            <a:avLst/>
          </a:prstGeom>
          <a:noFill/>
          <a:ln/>
        </p:spPr>
        <p:txBody>
          <a:bodyPr wrap="square" lIns="0" tIns="0" rIns="0" bIns="0" rtlCol="0" anchor="t"/>
          <a:lstStyle/>
          <a:p>
            <a:pPr algn="l" indent="0" marL="0">
              <a:spcAft>
                <a:spcPts val="1200"/>
              </a:spcAft>
              <a:buNone/>
            </a:pPr>
            <a:r>
              <a:rPr lang="en-US" sz="850" b="1" dirty="0">
                <a:solidFill>
                  <a:srgbClr val="E5A063"/>
                </a:solidFill>
                <a:latin typeface="Arial" pitchFamily="34" charset="0"/>
                <a:ea typeface="Arial" pitchFamily="34" charset="-122"/>
                <a:cs typeface="Arial" pitchFamily="34" charset="-120"/>
              </a:rPr>
              <a:t>A CREDENTIAL YOU OWN. ON BASE.</a:t>
            </a:r>
            <a:endParaRPr lang="en-US" sz="850" dirty="0"/>
          </a:p>
        </p:txBody>
      </p:sp>
      <p:sp>
        <p:nvSpPr>
          <p:cNvPr id="3" name="Text 1"/>
          <p:cNvSpPr/>
          <p:nvPr/>
        </p:nvSpPr>
        <p:spPr>
          <a:xfrm>
            <a:off x="533400" y="1412379"/>
            <a:ext cx="4922419" cy="788491"/>
          </a:xfrm>
          <a:prstGeom prst="rect">
            <a:avLst/>
          </a:prstGeom>
          <a:noFill/>
          <a:ln/>
        </p:spPr>
        <p:txBody>
          <a:bodyPr wrap="square" lIns="0" tIns="0" rIns="0" bIns="0" rtlCol="0" anchor="t"/>
          <a:lstStyle/>
          <a:p>
            <a:pPr algn="l" indent="0" marL="0">
              <a:lnSpc>
                <a:spcPts val="3105"/>
              </a:lnSpc>
              <a:buNone/>
            </a:pPr>
            <a:r>
              <a:rPr lang="en-US" sz="2700" b="1" dirty="0">
                <a:solidFill>
                  <a:srgbClr val="F3EEE4"/>
                </a:solidFill>
                <a:latin typeface="Georgia" pitchFamily="34" charset="0"/>
                <a:ea typeface="Georgia" pitchFamily="34" charset="-122"/>
                <a:cs typeface="Georgia" pitchFamily="34" charset="-120"/>
              </a:rPr>
              <a:t>The Soul is the ledger of the loop.</a:t>
            </a:r>
            <a:endParaRPr lang="en-US" sz="2700" dirty="0"/>
          </a:p>
        </p:txBody>
      </p:sp>
      <p:sp>
        <p:nvSpPr>
          <p:cNvPr id="4" name="Text 2"/>
          <p:cNvSpPr/>
          <p:nvPr/>
        </p:nvSpPr>
        <p:spPr>
          <a:xfrm>
            <a:off x="533400" y="2378571"/>
            <a:ext cx="4922419" cy="914400"/>
          </a:xfrm>
          <a:prstGeom prst="rect">
            <a:avLst/>
          </a:prstGeom>
          <a:noFill/>
          <a:ln/>
        </p:spPr>
        <p:txBody>
          <a:bodyPr wrap="square" lIns="0" tIns="0" rIns="0" bIns="0" rtlCol="0" anchor="t"/>
          <a:lstStyle/>
          <a:p>
            <a:pPr algn="l" indent="0" marL="0">
              <a:lnSpc>
                <a:spcPts val="1800"/>
              </a:lnSpc>
              <a:spcBef>
                <a:spcPts val="1400"/>
              </a:spcBef>
              <a:buNone/>
            </a:pPr>
            <a:r>
              <a:rPr lang="en-US" sz="1200" dirty="0">
                <a:solidFill>
                  <a:srgbClr val="A89E8F"/>
                </a:solidFill>
                <a:latin typeface="Arial" pitchFamily="34" charset="0"/>
                <a:ea typeface="Arial" pitchFamily="34" charset="-122"/>
                <a:cs typeface="Arial" pitchFamily="34" charset="-120"/>
              </a:rPr>
              <a:t>One star per completed day, placed by the meaning of your words. Soulbound on Base mainnet: it cannot be bought, sold, or transferred. Not a bolt on identity feature, the receipt for having run the loop for a year.</a:t>
            </a:r>
            <a:endParaRPr lang="en-US" sz="1200" dirty="0"/>
          </a:p>
        </p:txBody>
      </p:sp>
      <p:sp>
        <p:nvSpPr>
          <p:cNvPr id="5" name="Text 3"/>
          <p:cNvSpPr/>
          <p:nvPr/>
        </p:nvSpPr>
        <p:spPr>
          <a:xfrm>
            <a:off x="533400" y="3521571"/>
            <a:ext cx="4922419" cy="476250"/>
          </a:xfrm>
          <a:prstGeom prst="rect">
            <a:avLst/>
          </a:prstGeom>
          <a:noFill/>
          <a:ln/>
        </p:spPr>
        <p:txBody>
          <a:bodyPr wrap="square" lIns="0" tIns="0" rIns="0" bIns="0" rtlCol="0" anchor="t"/>
          <a:lstStyle/>
          <a:p>
            <a:pPr algn="l" indent="0" marL="0">
              <a:spcBef>
                <a:spcPts val="1800"/>
              </a:spcBef>
              <a:buNone/>
            </a:pPr>
            <a:r>
              <a:rPr lang="en-US" sz="1600" i="1" dirty="0">
                <a:solidFill>
                  <a:srgbClr val="F5C842"/>
                </a:solidFill>
                <a:latin typeface="Georgia" pitchFamily="34" charset="0"/>
                <a:ea typeface="Georgia" pitchFamily="34" charset="-122"/>
                <a:cs typeface="Georgia" pitchFamily="34" charset="-120"/>
              </a:rPr>
              <a:t>Bots can fake a profile. They cannot fake a year of your thinking.</a:t>
            </a:r>
            <a:endParaRPr lang="en-US" sz="1600" dirty="0"/>
          </a:p>
        </p:txBody>
      </p:sp>
      <p:pic>
        <p:nvPicPr>
          <p:cNvPr id="6" name="Image 0" descr="/Users/konradgnat/dev/startups/luminalog/luminalog-oss/web/public/demo-day/shot-constellation.png">    </p:cNvPr>
          <p:cNvPicPr>
            <a:picLocks noChangeAspect="1"/>
          </p:cNvPicPr>
          <p:nvPr/>
        </p:nvPicPr>
        <p:blipFill>
          <a:blip r:embed="rId1"/>
          <a:stretch>
            <a:fillRect/>
          </a:stretch>
        </p:blipFill>
        <p:spPr>
          <a:xfrm>
            <a:off x="5892701" y="673150"/>
            <a:ext cx="1752600" cy="3797201"/>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30E"/>
        </a:solidFill>
      </p:bgPr>
    </p:bg>
    <p:spTree>
      <p:nvGrpSpPr>
        <p:cNvPr id="1" name=""/>
        <p:cNvGrpSpPr/>
        <p:nvPr/>
      </p:nvGrpSpPr>
      <p:grpSpPr>
        <a:xfrm>
          <a:off x="0" y="0"/>
          <a:ext cx="0" cy="0"/>
          <a:chOff x="0" y="0"/>
          <a:chExt cx="0" cy="0"/>
        </a:xfrm>
      </p:grpSpPr>
      <p:sp>
        <p:nvSpPr>
          <p:cNvPr id="2" name="Text 0"/>
          <p:cNvSpPr/>
          <p:nvPr/>
        </p:nvSpPr>
        <p:spPr>
          <a:xfrm>
            <a:off x="533400" y="1247031"/>
            <a:ext cx="4274820" cy="114300"/>
          </a:xfrm>
          <a:prstGeom prst="rect">
            <a:avLst/>
          </a:prstGeom>
          <a:noFill/>
          <a:ln/>
        </p:spPr>
        <p:txBody>
          <a:bodyPr wrap="square" lIns="0" tIns="0" rIns="0" bIns="0" rtlCol="0" anchor="t"/>
          <a:lstStyle/>
          <a:p>
            <a:pPr algn="l" indent="0" marL="0">
              <a:spcAft>
                <a:spcPts val="1200"/>
              </a:spcAft>
              <a:buNone/>
            </a:pPr>
            <a:r>
              <a:rPr lang="en-US" sz="850" b="1" dirty="0">
                <a:solidFill>
                  <a:srgbClr val="E5A063"/>
                </a:solidFill>
                <a:latin typeface="Arial" pitchFamily="34" charset="0"/>
                <a:ea typeface="Arial" pitchFamily="34" charset="-122"/>
                <a:cs typeface="Arial" pitchFamily="34" charset="-120"/>
              </a:rPr>
              <a:t>GO TO MARKET</a:t>
            </a:r>
            <a:endParaRPr lang="en-US" sz="850" dirty="0"/>
          </a:p>
        </p:txBody>
      </p:sp>
      <p:sp>
        <p:nvSpPr>
          <p:cNvPr id="3" name="Text 1"/>
          <p:cNvSpPr/>
          <p:nvPr/>
        </p:nvSpPr>
        <p:spPr>
          <a:xfrm>
            <a:off x="533400" y="1513731"/>
            <a:ext cx="4274820" cy="1182737"/>
          </a:xfrm>
          <a:prstGeom prst="rect">
            <a:avLst/>
          </a:prstGeom>
          <a:noFill/>
          <a:ln/>
        </p:spPr>
        <p:txBody>
          <a:bodyPr wrap="square" lIns="0" tIns="0" rIns="0" bIns="0" rtlCol="0" anchor="t"/>
          <a:lstStyle/>
          <a:p>
            <a:pPr algn="l" indent="0" marL="0">
              <a:lnSpc>
                <a:spcPts val="3105"/>
              </a:lnSpc>
              <a:buNone/>
            </a:pPr>
            <a:r>
              <a:rPr lang="en-US" sz="2700" b="1" dirty="0">
                <a:solidFill>
                  <a:srgbClr val="F3EEE4"/>
                </a:solidFill>
                <a:latin typeface="Georgia" pitchFamily="34" charset="0"/>
                <a:ea typeface="Georgia" pitchFamily="34" charset="-122"/>
                <a:cs typeface="Georgia" pitchFamily="34" charset="-120"/>
              </a:rPr>
              <a:t>I am not buying users. I built a machine that feeds the app.</a:t>
            </a:r>
            <a:endParaRPr lang="en-US" sz="2700" dirty="0"/>
          </a:p>
        </p:txBody>
      </p:sp>
      <p:sp>
        <p:nvSpPr>
          <p:cNvPr id="4" name="Text 2"/>
          <p:cNvSpPr/>
          <p:nvPr/>
        </p:nvSpPr>
        <p:spPr>
          <a:xfrm>
            <a:off x="533400" y="2874169"/>
            <a:ext cx="4274820" cy="685800"/>
          </a:xfrm>
          <a:prstGeom prst="rect">
            <a:avLst/>
          </a:prstGeom>
          <a:noFill/>
          <a:ln/>
        </p:spPr>
        <p:txBody>
          <a:bodyPr wrap="square" lIns="0" tIns="0" rIns="0" bIns="0" rtlCol="0" anchor="t"/>
          <a:lstStyle/>
          <a:p>
            <a:pPr algn="l" indent="0" marL="0">
              <a:lnSpc>
                <a:spcPts val="1800"/>
              </a:lnSpc>
              <a:spcBef>
                <a:spcPts val="1400"/>
              </a:spcBef>
              <a:buNone/>
            </a:pPr>
            <a:r>
              <a:rPr lang="en-US" sz="1200" dirty="0">
                <a:solidFill>
                  <a:srgbClr val="A89E8F"/>
                </a:solidFill>
                <a:latin typeface="Arial" pitchFamily="34" charset="0"/>
                <a:ea typeface="Arial" pitchFamily="34" charset="-122"/>
                <a:cs typeface="Arial" pitchFamily="34" charset="-120"/>
              </a:rPr>
              <a:t>You do not get momentum from one big push. You get it from pushing the same wheel in the same direction until it turns itself. Every part of my life is a spoke on it.</a:t>
            </a:r>
            <a:endParaRPr lang="en-US" sz="1200" dirty="0"/>
          </a:p>
        </p:txBody>
      </p:sp>
      <p:sp>
        <p:nvSpPr>
          <p:cNvPr id="5" name="Text 3"/>
          <p:cNvSpPr/>
          <p:nvPr/>
        </p:nvSpPr>
        <p:spPr>
          <a:xfrm>
            <a:off x="533400" y="3763119"/>
            <a:ext cx="4274820" cy="133350"/>
          </a:xfrm>
          <a:prstGeom prst="rect">
            <a:avLst/>
          </a:prstGeom>
          <a:noFill/>
          <a:ln/>
        </p:spPr>
        <p:txBody>
          <a:bodyPr wrap="square" lIns="0" tIns="0" rIns="0" bIns="0" rtlCol="0" anchor="t"/>
          <a:lstStyle/>
          <a:p>
            <a:pPr algn="l" indent="0" marL="0">
              <a:spcBef>
                <a:spcPts val="1600"/>
              </a:spcBef>
              <a:buNone/>
            </a:pPr>
            <a:r>
              <a:rPr lang="en-US" sz="950" dirty="0">
                <a:solidFill>
                  <a:srgbClr val="A89E8F"/>
                </a:solidFill>
                <a:latin typeface="Arial" pitchFamily="34" charset="0"/>
                <a:ea typeface="Arial" pitchFamily="34" charset="-122"/>
                <a:cs typeface="Arial" pitchFamily="34" charset="-120"/>
              </a:rPr>
              <a:t>Jim Collins, Good to Great</a:t>
            </a:r>
            <a:endParaRPr lang="en-US" sz="950" dirty="0"/>
          </a:p>
        </p:txBody>
      </p:sp>
      <p:pic>
        <p:nvPicPr>
          <p:cNvPr id="6" name="Image 0" descr="/Users/konradgnat/dev/startups/luminalog/luminalog-oss/web/scripts/demo-day-pptx/.build/flywheel.png">    </p:cNvPr>
          <p:cNvPicPr>
            <a:picLocks noChangeAspect="1"/>
          </p:cNvPicPr>
          <p:nvPr/>
        </p:nvPicPr>
        <p:blipFill>
          <a:blip r:embed="rId1"/>
          <a:stretch>
            <a:fillRect/>
          </a:stretch>
        </p:blipFill>
        <p:spPr>
          <a:xfrm>
            <a:off x="4978301" y="1111300"/>
            <a:ext cx="3505200" cy="292090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0E9"/>
        </a:solidFill>
      </p:bgPr>
    </p:bg>
    <p:spTree>
      <p:nvGrpSpPr>
        <p:cNvPr id="1" name=""/>
        <p:cNvGrpSpPr/>
        <p:nvPr/>
      </p:nvGrpSpPr>
      <p:grpSpPr>
        <a:xfrm>
          <a:off x="0" y="0"/>
          <a:ext cx="0" cy="0"/>
          <a:chOff x="0" y="0"/>
          <a:chExt cx="0" cy="0"/>
        </a:xfrm>
      </p:grpSpPr>
      <p:sp>
        <p:nvSpPr>
          <p:cNvPr id="2" name="Text 0"/>
          <p:cNvSpPr/>
          <p:nvPr/>
        </p:nvSpPr>
        <p:spPr>
          <a:xfrm>
            <a:off x="533400" y="381000"/>
            <a:ext cx="8238744" cy="114300"/>
          </a:xfrm>
          <a:prstGeom prst="rect">
            <a:avLst/>
          </a:prstGeom>
          <a:noFill/>
          <a:ln/>
        </p:spPr>
        <p:txBody>
          <a:bodyPr wrap="square" lIns="0" tIns="0" rIns="0" bIns="0" rtlCol="0" anchor="t"/>
          <a:lstStyle/>
          <a:p>
            <a:pPr algn="l" indent="0" marL="0">
              <a:spcAft>
                <a:spcPts val="1200"/>
              </a:spcAft>
              <a:buNone/>
            </a:pPr>
            <a:r>
              <a:rPr lang="en-US" sz="850" b="1" dirty="0">
                <a:solidFill>
                  <a:srgbClr val="B96B33"/>
                </a:solidFill>
                <a:latin typeface="Arial" pitchFamily="34" charset="0"/>
                <a:ea typeface="Arial" pitchFamily="34" charset="-122"/>
                <a:cs typeface="Arial" pitchFamily="34" charset="-120"/>
              </a:rPr>
              <a:t>THE FOUR SPOKES</a:t>
            </a:r>
            <a:endParaRPr lang="en-US" sz="850" dirty="0"/>
          </a:p>
        </p:txBody>
      </p:sp>
      <p:sp>
        <p:nvSpPr>
          <p:cNvPr id="3" name="Text 1"/>
          <p:cNvSpPr/>
          <p:nvPr/>
        </p:nvSpPr>
        <p:spPr>
          <a:xfrm>
            <a:off x="533400" y="647700"/>
            <a:ext cx="8238744" cy="342900"/>
          </a:xfrm>
          <a:prstGeom prst="rect">
            <a:avLst/>
          </a:prstGeom>
          <a:noFill/>
          <a:ln/>
        </p:spPr>
        <p:txBody>
          <a:bodyPr wrap="square" lIns="0" tIns="0" rIns="0" bIns="0" rtlCol="0" anchor="t"/>
          <a:lstStyle/>
          <a:p>
            <a:pPr algn="l" indent="0" marL="0">
              <a:buNone/>
            </a:pPr>
            <a:r>
              <a:rPr lang="en-US" sz="2400" b="1" dirty="0">
                <a:solidFill>
                  <a:srgbClr val="2B2722"/>
                </a:solidFill>
                <a:latin typeface="Georgia" pitchFamily="34" charset="0"/>
                <a:ea typeface="Georgia" pitchFamily="34" charset="-122"/>
                <a:cs typeface="Georgia" pitchFamily="34" charset="-120"/>
              </a:rPr>
              <a:t>Every one of them ends with the app.</a:t>
            </a:r>
            <a:endParaRPr lang="en-US" sz="2400" dirty="0"/>
          </a:p>
        </p:txBody>
      </p:sp>
      <p:pic>
        <p:nvPicPr>
          <p:cNvPr id="4" name="Image 0" descr="/Users/konradgnat/dev/startups/luminalog/luminalog-oss/web/scripts/demo-day-pptx/.build/spoke-podcast-16x9.jpg">    </p:cNvPr>
          <p:cNvPicPr>
            <a:picLocks noChangeAspect="1"/>
          </p:cNvPicPr>
          <p:nvPr/>
        </p:nvPicPr>
        <p:blipFill>
          <a:blip r:embed="rId1"/>
          <a:stretch>
            <a:fillRect/>
          </a:stretch>
        </p:blipFill>
        <p:spPr>
          <a:xfrm>
            <a:off x="533400" y="1244501"/>
            <a:ext cx="1879550" cy="1054001"/>
          </a:xfrm>
          <a:prstGeom prst="rect">
            <a:avLst/>
          </a:prstGeom>
        </p:spPr>
      </p:pic>
      <p:sp>
        <p:nvSpPr>
          <p:cNvPr id="5" name="Text 2"/>
          <p:cNvSpPr/>
          <p:nvPr/>
        </p:nvSpPr>
        <p:spPr>
          <a:xfrm>
            <a:off x="533400" y="2463552"/>
            <a:ext cx="1917141" cy="200025"/>
          </a:xfrm>
          <a:prstGeom prst="rect">
            <a:avLst/>
          </a:prstGeom>
          <a:noFill/>
          <a:ln/>
        </p:spPr>
        <p:txBody>
          <a:bodyPr wrap="square" lIns="0" tIns="0" rIns="0" bIns="0" rtlCol="0" anchor="t"/>
          <a:lstStyle/>
          <a:p>
            <a:pPr algn="l" indent="0" marL="0">
              <a:spcBef>
                <a:spcPts val="1000"/>
              </a:spcBef>
              <a:buNone/>
            </a:pPr>
            <a:r>
              <a:rPr lang="en-US" sz="1400" dirty="0">
                <a:solidFill>
                  <a:srgbClr val="2B2722"/>
                </a:solidFill>
                <a:latin typeface="Georgia" pitchFamily="34" charset="0"/>
                <a:ea typeface="Georgia" pitchFamily="34" charset="-122"/>
                <a:cs typeface="Georgia" pitchFamily="34" charset="-120"/>
              </a:rPr>
              <a:t>The podcast</a:t>
            </a:r>
            <a:endParaRPr lang="en-US" sz="1400" dirty="0"/>
          </a:p>
        </p:txBody>
      </p:sp>
      <p:sp>
        <p:nvSpPr>
          <p:cNvPr id="6" name="Text 3"/>
          <p:cNvSpPr/>
          <p:nvPr/>
        </p:nvSpPr>
        <p:spPr>
          <a:xfrm>
            <a:off x="533400" y="2739777"/>
            <a:ext cx="1917141" cy="514350"/>
          </a:xfrm>
          <a:prstGeom prst="rect">
            <a:avLst/>
          </a:prstGeom>
          <a:noFill/>
          <a:ln/>
        </p:spPr>
        <p:txBody>
          <a:bodyPr wrap="square" lIns="0" tIns="0" rIns="0" bIns="0" rtlCol="0" anchor="t"/>
          <a:lstStyle/>
          <a:p>
            <a:pPr algn="l" indent="0" marL="0">
              <a:lnSpc>
                <a:spcPts val="1350"/>
              </a:lnSpc>
              <a:spcBef>
                <a:spcPts val="600"/>
              </a:spcBef>
              <a:buNone/>
            </a:pPr>
            <a:r>
              <a:rPr lang="en-US" sz="900" dirty="0">
                <a:solidFill>
                  <a:srgbClr val="7C7468"/>
                </a:solidFill>
                <a:latin typeface="Arial" pitchFamily="34" charset="0"/>
                <a:ea typeface="Arial" pitchFamily="34" charset="-122"/>
                <a:cs typeface="Arial" pitchFamily="34" charset="-120"/>
              </a:rPr>
              <a:t>Creativity, technology, spirituality. Every episode describes the app and asks the guest what they think.</a:t>
            </a:r>
            <a:endParaRPr lang="en-US" sz="900" dirty="0"/>
          </a:p>
        </p:txBody>
      </p:sp>
      <p:pic>
        <p:nvPicPr>
          <p:cNvPr id="7" name="Image 1" descr="/Users/konradgnat/dev/startups/luminalog/luminalog-oss/web/scripts/demo-day-pptx/.build/spoke-kids-16x9.jpg">    </p:cNvPr>
          <p:cNvPicPr>
            <a:picLocks noChangeAspect="1"/>
          </p:cNvPicPr>
          <p:nvPr/>
        </p:nvPicPr>
        <p:blipFill>
          <a:blip r:embed="rId2"/>
          <a:stretch>
            <a:fillRect/>
          </a:stretch>
        </p:blipFill>
        <p:spPr>
          <a:xfrm>
            <a:off x="2565350" y="1244501"/>
            <a:ext cx="1879550" cy="1054001"/>
          </a:xfrm>
          <a:prstGeom prst="rect">
            <a:avLst/>
          </a:prstGeom>
        </p:spPr>
      </p:pic>
      <p:sp>
        <p:nvSpPr>
          <p:cNvPr id="8" name="Text 4"/>
          <p:cNvSpPr/>
          <p:nvPr/>
        </p:nvSpPr>
        <p:spPr>
          <a:xfrm>
            <a:off x="2565350" y="2463552"/>
            <a:ext cx="1917141" cy="200025"/>
          </a:xfrm>
          <a:prstGeom prst="rect">
            <a:avLst/>
          </a:prstGeom>
          <a:noFill/>
          <a:ln/>
        </p:spPr>
        <p:txBody>
          <a:bodyPr wrap="square" lIns="0" tIns="0" rIns="0" bIns="0" rtlCol="0" anchor="t"/>
          <a:lstStyle/>
          <a:p>
            <a:pPr algn="l" indent="0" marL="0">
              <a:spcBef>
                <a:spcPts val="1000"/>
              </a:spcBef>
              <a:buNone/>
            </a:pPr>
            <a:r>
              <a:rPr lang="en-US" sz="1400" dirty="0">
                <a:solidFill>
                  <a:srgbClr val="2B2722"/>
                </a:solidFill>
                <a:latin typeface="Georgia" pitchFamily="34" charset="0"/>
                <a:ea typeface="Georgia" pitchFamily="34" charset="-122"/>
                <a:cs typeface="Georgia" pitchFamily="34" charset="-120"/>
              </a:rPr>
              <a:t>The kids class</a:t>
            </a:r>
            <a:endParaRPr lang="en-US" sz="1400" dirty="0"/>
          </a:p>
        </p:txBody>
      </p:sp>
      <p:sp>
        <p:nvSpPr>
          <p:cNvPr id="9" name="Text 5"/>
          <p:cNvSpPr/>
          <p:nvPr/>
        </p:nvSpPr>
        <p:spPr>
          <a:xfrm>
            <a:off x="2565350" y="2739777"/>
            <a:ext cx="1917141" cy="514350"/>
          </a:xfrm>
          <a:prstGeom prst="rect">
            <a:avLst/>
          </a:prstGeom>
          <a:noFill/>
          <a:ln/>
        </p:spPr>
        <p:txBody>
          <a:bodyPr wrap="square" lIns="0" tIns="0" rIns="0" bIns="0" rtlCol="0" anchor="t"/>
          <a:lstStyle/>
          <a:p>
            <a:pPr algn="l" indent="0" marL="0">
              <a:lnSpc>
                <a:spcPts val="1350"/>
              </a:lnSpc>
              <a:spcBef>
                <a:spcPts val="600"/>
              </a:spcBef>
              <a:buNone/>
            </a:pPr>
            <a:r>
              <a:rPr lang="en-US" sz="900" dirty="0">
                <a:solidFill>
                  <a:srgbClr val="7C7468"/>
                </a:solidFill>
                <a:latin typeface="Arial" pitchFamily="34" charset="0"/>
                <a:ea typeface="Arial" pitchFamily="34" charset="-122"/>
                <a:cs typeface="Arial" pitchFamily="34" charset="-120"/>
              </a:rPr>
              <a:t>Holistic creativity and STEM. Draw, journal, teach each other a concept. Every family gets a subscription.</a:t>
            </a:r>
            <a:endParaRPr lang="en-US" sz="900" dirty="0"/>
          </a:p>
        </p:txBody>
      </p:sp>
      <p:pic>
        <p:nvPicPr>
          <p:cNvPr id="10" name="Image 2" descr="/Users/konradgnat/dev/startups/luminalog/luminalog-oss/web/scripts/demo-day-pptx/.build/spoke-course-16x9.jpg">    </p:cNvPr>
          <p:cNvPicPr>
            <a:picLocks noChangeAspect="1"/>
          </p:cNvPicPr>
          <p:nvPr/>
        </p:nvPicPr>
        <p:blipFill>
          <a:blip r:embed="rId3"/>
          <a:stretch>
            <a:fillRect/>
          </a:stretch>
        </p:blipFill>
        <p:spPr>
          <a:xfrm>
            <a:off x="4597301" y="1244501"/>
            <a:ext cx="1879550" cy="1054001"/>
          </a:xfrm>
          <a:prstGeom prst="rect">
            <a:avLst/>
          </a:prstGeom>
        </p:spPr>
      </p:pic>
      <p:sp>
        <p:nvSpPr>
          <p:cNvPr id="11" name="Text 6"/>
          <p:cNvSpPr/>
          <p:nvPr/>
        </p:nvSpPr>
        <p:spPr>
          <a:xfrm>
            <a:off x="4597301" y="2463552"/>
            <a:ext cx="1917141" cy="200025"/>
          </a:xfrm>
          <a:prstGeom prst="rect">
            <a:avLst/>
          </a:prstGeom>
          <a:noFill/>
          <a:ln/>
        </p:spPr>
        <p:txBody>
          <a:bodyPr wrap="square" lIns="0" tIns="0" rIns="0" bIns="0" rtlCol="0" anchor="t"/>
          <a:lstStyle/>
          <a:p>
            <a:pPr algn="l" indent="0" marL="0">
              <a:spcBef>
                <a:spcPts val="1000"/>
              </a:spcBef>
              <a:buNone/>
            </a:pPr>
            <a:r>
              <a:rPr lang="en-US" sz="1400" dirty="0">
                <a:solidFill>
                  <a:srgbClr val="2B2722"/>
                </a:solidFill>
                <a:latin typeface="Georgia" pitchFamily="34" charset="0"/>
                <a:ea typeface="Georgia" pitchFamily="34" charset="-122"/>
                <a:cs typeface="Georgia" pitchFamily="34" charset="-120"/>
              </a:rPr>
              <a:t>The AI course</a:t>
            </a:r>
            <a:endParaRPr lang="en-US" sz="1400" dirty="0"/>
          </a:p>
        </p:txBody>
      </p:sp>
      <p:sp>
        <p:nvSpPr>
          <p:cNvPr id="12" name="Text 7"/>
          <p:cNvSpPr/>
          <p:nvPr/>
        </p:nvSpPr>
        <p:spPr>
          <a:xfrm>
            <a:off x="4597301" y="2739777"/>
            <a:ext cx="1917141" cy="514350"/>
          </a:xfrm>
          <a:prstGeom prst="rect">
            <a:avLst/>
          </a:prstGeom>
          <a:noFill/>
          <a:ln/>
        </p:spPr>
        <p:txBody>
          <a:bodyPr wrap="square" lIns="0" tIns="0" rIns="0" bIns="0" rtlCol="0" anchor="t"/>
          <a:lstStyle/>
          <a:p>
            <a:pPr algn="l" indent="0" marL="0">
              <a:lnSpc>
                <a:spcPts val="1350"/>
              </a:lnSpc>
              <a:spcBef>
                <a:spcPts val="600"/>
              </a:spcBef>
              <a:buNone/>
            </a:pPr>
            <a:r>
              <a:rPr lang="en-US" sz="900" dirty="0">
                <a:solidFill>
                  <a:srgbClr val="7C7468"/>
                </a:solidFill>
                <a:latin typeface="Arial" pitchFamily="34" charset="0"/>
                <a:ea typeface="Arial" pitchFamily="34" charset="-122"/>
                <a:cs typeface="Arial" pitchFamily="34" charset="-120"/>
              </a:rPr>
              <a:t>Free online fills the funnel, paid in person. Singapore, and now Cambodia.</a:t>
            </a:r>
            <a:endParaRPr lang="en-US" sz="900" dirty="0"/>
          </a:p>
        </p:txBody>
      </p:sp>
      <p:pic>
        <p:nvPicPr>
          <p:cNvPr id="13" name="Image 3" descr="/Users/konradgnat/dev/startups/luminalog/luminalog-oss/web/scripts/demo-day-pptx/.build/spoke-community-16x9.jpg">    </p:cNvPr>
          <p:cNvPicPr>
            <a:picLocks noChangeAspect="1"/>
          </p:cNvPicPr>
          <p:nvPr/>
        </p:nvPicPr>
        <p:blipFill>
          <a:blip r:embed="rId4"/>
          <a:stretch>
            <a:fillRect/>
          </a:stretch>
        </p:blipFill>
        <p:spPr>
          <a:xfrm>
            <a:off x="6629251" y="1244501"/>
            <a:ext cx="1879550" cy="1054001"/>
          </a:xfrm>
          <a:prstGeom prst="rect">
            <a:avLst/>
          </a:prstGeom>
        </p:spPr>
      </p:pic>
      <p:sp>
        <p:nvSpPr>
          <p:cNvPr id="14" name="Text 8"/>
          <p:cNvSpPr/>
          <p:nvPr/>
        </p:nvSpPr>
        <p:spPr>
          <a:xfrm>
            <a:off x="6629251" y="2463552"/>
            <a:ext cx="1917141" cy="200025"/>
          </a:xfrm>
          <a:prstGeom prst="rect">
            <a:avLst/>
          </a:prstGeom>
          <a:noFill/>
          <a:ln/>
        </p:spPr>
        <p:txBody>
          <a:bodyPr wrap="square" lIns="0" tIns="0" rIns="0" bIns="0" rtlCol="0" anchor="t"/>
          <a:lstStyle/>
          <a:p>
            <a:pPr algn="l" indent="0" marL="0">
              <a:spcBef>
                <a:spcPts val="1000"/>
              </a:spcBef>
              <a:buNone/>
            </a:pPr>
            <a:r>
              <a:rPr lang="en-US" sz="1400" dirty="0">
                <a:solidFill>
                  <a:srgbClr val="2B2722"/>
                </a:solidFill>
                <a:latin typeface="Georgia" pitchFamily="34" charset="0"/>
                <a:ea typeface="Georgia" pitchFamily="34" charset="-122"/>
                <a:cs typeface="Georgia" pitchFamily="34" charset="-120"/>
              </a:rPr>
              <a:t>The community</a:t>
            </a:r>
            <a:endParaRPr lang="en-US" sz="1400" dirty="0"/>
          </a:p>
        </p:txBody>
      </p:sp>
      <p:sp>
        <p:nvSpPr>
          <p:cNvPr id="15" name="Text 9"/>
          <p:cNvSpPr/>
          <p:nvPr/>
        </p:nvSpPr>
        <p:spPr>
          <a:xfrm>
            <a:off x="6629251" y="2739777"/>
            <a:ext cx="1917141" cy="514350"/>
          </a:xfrm>
          <a:prstGeom prst="rect">
            <a:avLst/>
          </a:prstGeom>
          <a:noFill/>
          <a:ln/>
        </p:spPr>
        <p:txBody>
          <a:bodyPr wrap="square" lIns="0" tIns="0" rIns="0" bIns="0" rtlCol="0" anchor="t"/>
          <a:lstStyle/>
          <a:p>
            <a:pPr algn="l" indent="0" marL="0">
              <a:lnSpc>
                <a:spcPts val="1350"/>
              </a:lnSpc>
              <a:spcBef>
                <a:spcPts val="600"/>
              </a:spcBef>
              <a:buNone/>
            </a:pPr>
            <a:r>
              <a:rPr lang="en-US" sz="900" dirty="0">
                <a:solidFill>
                  <a:srgbClr val="7C7468"/>
                </a:solidFill>
                <a:latin typeface="Arial" pitchFamily="34" charset="0"/>
                <a:ea typeface="Arial" pitchFamily="34" charset="-122"/>
                <a:cs typeface="Arial" pitchFamily="34" charset="-120"/>
              </a:rPr>
              <a:t>A subscription is not an app, it is a membership. And all of it becomes content.</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130E"/>
        </a:solidFill>
      </p:bgPr>
    </p:bg>
    <p:spTree>
      <p:nvGrpSpPr>
        <p:cNvPr id="1" name=""/>
        <p:cNvGrpSpPr/>
        <p:nvPr/>
      </p:nvGrpSpPr>
      <p:grpSpPr>
        <a:xfrm>
          <a:off x="0" y="0"/>
          <a:ext cx="0" cy="0"/>
          <a:chOff x="0" y="0"/>
          <a:chExt cx="0" cy="0"/>
        </a:xfrm>
      </p:grpSpPr>
      <p:sp>
        <p:nvSpPr>
          <p:cNvPr id="2" name="Text 0"/>
          <p:cNvSpPr/>
          <p:nvPr/>
        </p:nvSpPr>
        <p:spPr>
          <a:xfrm>
            <a:off x="533400" y="1039564"/>
            <a:ext cx="8238744" cy="114300"/>
          </a:xfrm>
          <a:prstGeom prst="rect">
            <a:avLst/>
          </a:prstGeom>
          <a:noFill/>
          <a:ln/>
        </p:spPr>
        <p:txBody>
          <a:bodyPr wrap="square" lIns="0" tIns="0" rIns="0" bIns="0" rtlCol="0" anchor="t"/>
          <a:lstStyle/>
          <a:p>
            <a:pPr algn="l" indent="0" marL="0">
              <a:spcAft>
                <a:spcPts val="1200"/>
              </a:spcAft>
              <a:buNone/>
            </a:pPr>
            <a:r>
              <a:rPr lang="en-US" sz="850" b="1" dirty="0">
                <a:solidFill>
                  <a:srgbClr val="E5A063"/>
                </a:solidFill>
                <a:latin typeface="Arial" pitchFamily="34" charset="0"/>
                <a:ea typeface="Arial" pitchFamily="34" charset="-122"/>
                <a:cs typeface="Arial" pitchFamily="34" charset="-120"/>
              </a:rPr>
              <a:t>IS IT TURNING</a:t>
            </a:r>
            <a:endParaRPr lang="en-US" sz="850" dirty="0"/>
          </a:p>
        </p:txBody>
      </p:sp>
      <p:sp>
        <p:nvSpPr>
          <p:cNvPr id="3" name="Text 1"/>
          <p:cNvSpPr/>
          <p:nvPr/>
        </p:nvSpPr>
        <p:spPr>
          <a:xfrm>
            <a:off x="533400" y="1306264"/>
            <a:ext cx="8238744" cy="394246"/>
          </a:xfrm>
          <a:prstGeom prst="rect">
            <a:avLst/>
          </a:prstGeom>
          <a:noFill/>
          <a:ln/>
        </p:spPr>
        <p:txBody>
          <a:bodyPr wrap="square" lIns="0" tIns="0" rIns="0" bIns="0" rtlCol="0" anchor="t"/>
          <a:lstStyle/>
          <a:p>
            <a:pPr algn="l" indent="0" marL="0">
              <a:lnSpc>
                <a:spcPts val="3105"/>
              </a:lnSpc>
              <a:buNone/>
            </a:pPr>
            <a:r>
              <a:rPr lang="en-US" sz="2700" b="1" dirty="0">
                <a:solidFill>
                  <a:srgbClr val="F3EEE4"/>
                </a:solidFill>
                <a:latin typeface="Georgia" pitchFamily="34" charset="0"/>
                <a:ea typeface="Georgia" pitchFamily="34" charset="-122"/>
                <a:cs typeface="Georgia" pitchFamily="34" charset="-120"/>
              </a:rPr>
              <a:t>The numbers, and none of them bought.</a:t>
            </a:r>
            <a:endParaRPr lang="en-US" sz="2700" dirty="0"/>
          </a:p>
        </p:txBody>
      </p:sp>
      <p:sp>
        <p:nvSpPr>
          <p:cNvPr id="4" name="Text 2"/>
          <p:cNvSpPr/>
          <p:nvPr/>
        </p:nvSpPr>
        <p:spPr>
          <a:xfrm>
            <a:off x="533400" y="2030611"/>
            <a:ext cx="1460450" cy="1650950"/>
          </a:xfrm>
          <a:prstGeom prst="roundRect">
            <a:avLst>
              <a:gd name="adj" fmla="val 7826"/>
            </a:avLst>
          </a:prstGeom>
          <a:solidFill>
            <a:srgbClr val="1D1811"/>
          </a:solidFill>
          <a:ln w="19050">
            <a:solidFill>
              <a:srgbClr val="CE7F44"/>
            </a:solidFill>
          </a:ln>
        </p:spPr>
        <p:txBody>
          <a:bodyPr wrap="square" rtlCol="0" anchor="ctr"/>
          <a:lstStyle/>
          <a:p>
            <a:pPr indent="0" marL="0">
              <a:buNone/>
            </a:pPr>
            <a:endParaRPr lang="en-US" dirty="0"/>
          </a:p>
        </p:txBody>
      </p:sp>
      <p:sp>
        <p:nvSpPr>
          <p:cNvPr id="5" name="Text 3"/>
          <p:cNvSpPr/>
          <p:nvPr/>
        </p:nvSpPr>
        <p:spPr>
          <a:xfrm>
            <a:off x="719481" y="2318593"/>
            <a:ext cx="1088288" cy="438150"/>
          </a:xfrm>
          <a:prstGeom prst="rect">
            <a:avLst/>
          </a:prstGeom>
          <a:noFill/>
          <a:ln/>
        </p:spPr>
        <p:txBody>
          <a:bodyPr wrap="square" lIns="0" tIns="0" rIns="0" bIns="0" rtlCol="0" anchor="t"/>
          <a:lstStyle/>
          <a:p>
            <a:pPr algn="ctr" indent="0" marL="0">
              <a:buNone/>
            </a:pPr>
            <a:r>
              <a:rPr lang="en-US" sz="3000" dirty="0">
                <a:solidFill>
                  <a:srgbClr val="CE7F44"/>
                </a:solidFill>
                <a:latin typeface="Georgia" pitchFamily="34" charset="0"/>
                <a:ea typeface="Georgia" pitchFamily="34" charset="-122"/>
                <a:cs typeface="Georgia" pitchFamily="34" charset="-120"/>
              </a:rPr>
              <a:t>—</a:t>
            </a:r>
            <a:endParaRPr lang="en-US" sz="3000" dirty="0"/>
          </a:p>
        </p:txBody>
      </p:sp>
      <p:sp>
        <p:nvSpPr>
          <p:cNvPr id="6" name="Text 4"/>
          <p:cNvSpPr/>
          <p:nvPr/>
        </p:nvSpPr>
        <p:spPr>
          <a:xfrm>
            <a:off x="719481" y="2858244"/>
            <a:ext cx="1088288" cy="325636"/>
          </a:xfrm>
          <a:prstGeom prst="rect">
            <a:avLst/>
          </a:prstGeom>
          <a:noFill/>
          <a:ln/>
        </p:spPr>
        <p:txBody>
          <a:bodyPr wrap="square" lIns="0" tIns="0" rIns="0" bIns="0" rtlCol="0" anchor="t"/>
          <a:lstStyle/>
          <a:p>
            <a:pPr algn="ctr" indent="0" marL="0">
              <a:lnSpc>
                <a:spcPts val="1283"/>
              </a:lnSpc>
              <a:spcBef>
                <a:spcPts val="800"/>
              </a:spcBef>
              <a:buNone/>
            </a:pPr>
            <a:r>
              <a:rPr lang="en-US" sz="950" b="1" dirty="0">
                <a:solidFill>
                  <a:srgbClr val="F3EEE4"/>
                </a:solidFill>
                <a:latin typeface="Arial" pitchFamily="34" charset="0"/>
                <a:ea typeface="Arial" pitchFamily="34" charset="-122"/>
                <a:cs typeface="Arial" pitchFamily="34" charset="-120"/>
              </a:rPr>
              <a:t>Views across channels</a:t>
            </a:r>
            <a:endParaRPr lang="en-US" sz="950" dirty="0"/>
          </a:p>
        </p:txBody>
      </p:sp>
      <p:sp>
        <p:nvSpPr>
          <p:cNvPr id="7" name="Text 5"/>
          <p:cNvSpPr/>
          <p:nvPr/>
        </p:nvSpPr>
        <p:spPr>
          <a:xfrm>
            <a:off x="719481" y="3260080"/>
            <a:ext cx="1088288" cy="133350"/>
          </a:xfrm>
          <a:prstGeom prst="rect">
            <a:avLst/>
          </a:prstGeom>
          <a:noFill/>
          <a:ln/>
        </p:spPr>
        <p:txBody>
          <a:bodyPr wrap="square" lIns="0" tIns="0" rIns="0" bIns="0" rtlCol="0" anchor="t"/>
          <a:lstStyle/>
          <a:p>
            <a:pPr algn="ctr" indent="0" marL="0">
              <a:lnSpc>
                <a:spcPts val="1050"/>
              </a:lnSpc>
              <a:spcBef>
                <a:spcPts val="600"/>
              </a:spcBef>
              <a:buNone/>
            </a:pPr>
            <a:r>
              <a:rPr lang="en-US" sz="750" dirty="0">
                <a:solidFill>
                  <a:srgbClr val="A89E8F"/>
                </a:solidFill>
                <a:latin typeface="Arial" pitchFamily="34" charset="0"/>
                <a:ea typeface="Arial" pitchFamily="34" charset="-122"/>
                <a:cs typeface="Arial" pitchFamily="34" charset="-120"/>
              </a:rPr>
              <a:t>platform dashboards</a:t>
            </a:r>
            <a:endParaRPr lang="en-US" sz="750" dirty="0"/>
          </a:p>
        </p:txBody>
      </p:sp>
      <p:sp>
        <p:nvSpPr>
          <p:cNvPr id="8" name="Text 6"/>
          <p:cNvSpPr/>
          <p:nvPr/>
        </p:nvSpPr>
        <p:spPr>
          <a:xfrm>
            <a:off x="2120801" y="2030611"/>
            <a:ext cx="1460450" cy="1650950"/>
          </a:xfrm>
          <a:prstGeom prst="roundRect">
            <a:avLst>
              <a:gd name="adj" fmla="val 7826"/>
            </a:avLst>
          </a:prstGeom>
          <a:solidFill>
            <a:srgbClr val="1D1811"/>
          </a:solidFill>
          <a:ln w="19050">
            <a:solidFill>
              <a:srgbClr val="CE7F44"/>
            </a:solidFill>
          </a:ln>
        </p:spPr>
        <p:txBody>
          <a:bodyPr wrap="square" rtlCol="0" anchor="ctr"/>
          <a:lstStyle/>
          <a:p>
            <a:pPr indent="0" marL="0">
              <a:buNone/>
            </a:pPr>
            <a:endParaRPr lang="en-US" dirty="0"/>
          </a:p>
        </p:txBody>
      </p:sp>
      <p:sp>
        <p:nvSpPr>
          <p:cNvPr id="9" name="Text 7"/>
          <p:cNvSpPr/>
          <p:nvPr/>
        </p:nvSpPr>
        <p:spPr>
          <a:xfrm>
            <a:off x="2306882" y="2318593"/>
            <a:ext cx="1088288" cy="438150"/>
          </a:xfrm>
          <a:prstGeom prst="rect">
            <a:avLst/>
          </a:prstGeom>
          <a:noFill/>
          <a:ln/>
        </p:spPr>
        <p:txBody>
          <a:bodyPr wrap="square" lIns="0" tIns="0" rIns="0" bIns="0" rtlCol="0" anchor="t"/>
          <a:lstStyle/>
          <a:p>
            <a:pPr algn="ctr" indent="0" marL="0">
              <a:buNone/>
            </a:pPr>
            <a:r>
              <a:rPr lang="en-US" sz="3000" dirty="0">
                <a:solidFill>
                  <a:srgbClr val="CE7F44"/>
                </a:solidFill>
                <a:latin typeface="Georgia" pitchFamily="34" charset="0"/>
                <a:ea typeface="Georgia" pitchFamily="34" charset="-122"/>
                <a:cs typeface="Georgia" pitchFamily="34" charset="-120"/>
              </a:rPr>
              <a:t>—</a:t>
            </a:r>
            <a:endParaRPr lang="en-US" sz="3000" dirty="0"/>
          </a:p>
        </p:txBody>
      </p:sp>
      <p:sp>
        <p:nvSpPr>
          <p:cNvPr id="10" name="Text 8"/>
          <p:cNvSpPr/>
          <p:nvPr/>
        </p:nvSpPr>
        <p:spPr>
          <a:xfrm>
            <a:off x="2306882" y="2858244"/>
            <a:ext cx="1088288" cy="325636"/>
          </a:xfrm>
          <a:prstGeom prst="rect">
            <a:avLst/>
          </a:prstGeom>
          <a:noFill/>
          <a:ln/>
        </p:spPr>
        <p:txBody>
          <a:bodyPr wrap="square" lIns="0" tIns="0" rIns="0" bIns="0" rtlCol="0" anchor="t"/>
          <a:lstStyle/>
          <a:p>
            <a:pPr algn="ctr" indent="0" marL="0">
              <a:lnSpc>
                <a:spcPts val="1283"/>
              </a:lnSpc>
              <a:spcBef>
                <a:spcPts val="800"/>
              </a:spcBef>
              <a:buNone/>
            </a:pPr>
            <a:r>
              <a:rPr lang="en-US" sz="950" b="1" dirty="0">
                <a:solidFill>
                  <a:srgbClr val="F3EEE4"/>
                </a:solidFill>
                <a:latin typeface="Arial" pitchFamily="34" charset="0"/>
                <a:ea typeface="Arial" pitchFamily="34" charset="-122"/>
                <a:cs typeface="Arial" pitchFamily="34" charset="-120"/>
              </a:rPr>
              <a:t>App downloads since 7 Aug</a:t>
            </a:r>
            <a:endParaRPr lang="en-US" sz="950" dirty="0"/>
          </a:p>
        </p:txBody>
      </p:sp>
      <p:sp>
        <p:nvSpPr>
          <p:cNvPr id="11" name="Text 9"/>
          <p:cNvSpPr/>
          <p:nvPr/>
        </p:nvSpPr>
        <p:spPr>
          <a:xfrm>
            <a:off x="2306882" y="3260080"/>
            <a:ext cx="1088288" cy="133350"/>
          </a:xfrm>
          <a:prstGeom prst="rect">
            <a:avLst/>
          </a:prstGeom>
          <a:noFill/>
          <a:ln/>
        </p:spPr>
        <p:txBody>
          <a:bodyPr wrap="square" lIns="0" tIns="0" rIns="0" bIns="0" rtlCol="0" anchor="t"/>
          <a:lstStyle/>
          <a:p>
            <a:pPr algn="ctr" indent="0" marL="0">
              <a:lnSpc>
                <a:spcPts val="1050"/>
              </a:lnSpc>
              <a:spcBef>
                <a:spcPts val="600"/>
              </a:spcBef>
              <a:buNone/>
            </a:pPr>
            <a:r>
              <a:rPr lang="en-US" sz="750" dirty="0">
                <a:solidFill>
                  <a:srgbClr val="A89E8F"/>
                </a:solidFill>
                <a:latin typeface="Arial" pitchFamily="34" charset="0"/>
                <a:ea typeface="Arial" pitchFamily="34" charset="-122"/>
                <a:cs typeface="Arial" pitchFamily="34" charset="-120"/>
              </a:rPr>
              <a:t>App Store Connect</a:t>
            </a:r>
            <a:endParaRPr lang="en-US" sz="750" dirty="0"/>
          </a:p>
        </p:txBody>
      </p:sp>
      <p:sp>
        <p:nvSpPr>
          <p:cNvPr id="12" name="Text 10"/>
          <p:cNvSpPr/>
          <p:nvPr/>
        </p:nvSpPr>
        <p:spPr>
          <a:xfrm>
            <a:off x="3708202" y="2030611"/>
            <a:ext cx="1460450" cy="1650950"/>
          </a:xfrm>
          <a:prstGeom prst="roundRect">
            <a:avLst>
              <a:gd name="adj" fmla="val 7826"/>
            </a:avLst>
          </a:prstGeom>
          <a:solidFill>
            <a:srgbClr val="1D1811"/>
          </a:solidFill>
          <a:ln w="19050">
            <a:solidFill>
              <a:srgbClr val="CE7F44"/>
            </a:solidFill>
          </a:ln>
        </p:spPr>
        <p:txBody>
          <a:bodyPr wrap="square" rtlCol="0" anchor="ctr"/>
          <a:lstStyle/>
          <a:p>
            <a:pPr indent="0" marL="0">
              <a:buNone/>
            </a:pPr>
            <a:endParaRPr lang="en-US" dirty="0"/>
          </a:p>
        </p:txBody>
      </p:sp>
      <p:sp>
        <p:nvSpPr>
          <p:cNvPr id="13" name="Text 11"/>
          <p:cNvSpPr/>
          <p:nvPr/>
        </p:nvSpPr>
        <p:spPr>
          <a:xfrm>
            <a:off x="3894283" y="2318593"/>
            <a:ext cx="1088288" cy="438150"/>
          </a:xfrm>
          <a:prstGeom prst="rect">
            <a:avLst/>
          </a:prstGeom>
          <a:noFill/>
          <a:ln/>
        </p:spPr>
        <p:txBody>
          <a:bodyPr wrap="square" lIns="0" tIns="0" rIns="0" bIns="0" rtlCol="0" anchor="t"/>
          <a:lstStyle/>
          <a:p>
            <a:pPr algn="ctr" indent="0" marL="0">
              <a:buNone/>
            </a:pPr>
            <a:r>
              <a:rPr lang="en-US" sz="3000" dirty="0">
                <a:solidFill>
                  <a:srgbClr val="CE7F44"/>
                </a:solidFill>
                <a:latin typeface="Georgia" pitchFamily="34" charset="0"/>
                <a:ea typeface="Georgia" pitchFamily="34" charset="-122"/>
                <a:cs typeface="Georgia" pitchFamily="34" charset="-120"/>
              </a:rPr>
              <a:t>—</a:t>
            </a:r>
            <a:endParaRPr lang="en-US" sz="3000" dirty="0"/>
          </a:p>
        </p:txBody>
      </p:sp>
      <p:sp>
        <p:nvSpPr>
          <p:cNvPr id="14" name="Text 12"/>
          <p:cNvSpPr/>
          <p:nvPr/>
        </p:nvSpPr>
        <p:spPr>
          <a:xfrm>
            <a:off x="3894283" y="2858244"/>
            <a:ext cx="1088288" cy="325636"/>
          </a:xfrm>
          <a:prstGeom prst="rect">
            <a:avLst/>
          </a:prstGeom>
          <a:noFill/>
          <a:ln/>
        </p:spPr>
        <p:txBody>
          <a:bodyPr wrap="square" lIns="0" tIns="0" rIns="0" bIns="0" rtlCol="0" anchor="t"/>
          <a:lstStyle/>
          <a:p>
            <a:pPr algn="ctr" indent="0" marL="0">
              <a:lnSpc>
                <a:spcPts val="1283"/>
              </a:lnSpc>
              <a:spcBef>
                <a:spcPts val="800"/>
              </a:spcBef>
              <a:buNone/>
            </a:pPr>
            <a:r>
              <a:rPr lang="en-US" sz="950" b="1" dirty="0">
                <a:solidFill>
                  <a:srgbClr val="F3EEE4"/>
                </a:solidFill>
                <a:latin typeface="Arial" pitchFamily="34" charset="0"/>
                <a:ea typeface="Arial" pitchFamily="34" charset="-122"/>
                <a:cs typeface="Arial" pitchFamily="34" charset="-120"/>
              </a:rPr>
              <a:t>Views on the launch ad</a:t>
            </a:r>
            <a:endParaRPr lang="en-US" sz="950" dirty="0"/>
          </a:p>
        </p:txBody>
      </p:sp>
      <p:sp>
        <p:nvSpPr>
          <p:cNvPr id="15" name="Text 13"/>
          <p:cNvSpPr/>
          <p:nvPr/>
        </p:nvSpPr>
        <p:spPr>
          <a:xfrm>
            <a:off x="3894283" y="3260080"/>
            <a:ext cx="1088288" cy="133350"/>
          </a:xfrm>
          <a:prstGeom prst="rect">
            <a:avLst/>
          </a:prstGeom>
          <a:noFill/>
          <a:ln/>
        </p:spPr>
        <p:txBody>
          <a:bodyPr wrap="square" lIns="0" tIns="0" rIns="0" bIns="0" rtlCol="0" anchor="t"/>
          <a:lstStyle/>
          <a:p>
            <a:pPr algn="ctr" indent="0" marL="0">
              <a:lnSpc>
                <a:spcPts val="1050"/>
              </a:lnSpc>
              <a:spcBef>
                <a:spcPts val="600"/>
              </a:spcBef>
              <a:buNone/>
            </a:pPr>
            <a:r>
              <a:rPr lang="en-US" sz="750" dirty="0">
                <a:solidFill>
                  <a:srgbClr val="A89E8F"/>
                </a:solidFill>
                <a:latin typeface="Arial" pitchFamily="34" charset="0"/>
                <a:ea typeface="Arial" pitchFamily="34" charset="-122"/>
                <a:cs typeface="Arial" pitchFamily="34" charset="-120"/>
              </a:rPr>
              <a:t>per platform</a:t>
            </a:r>
            <a:endParaRPr lang="en-US" sz="750" dirty="0"/>
          </a:p>
        </p:txBody>
      </p:sp>
      <p:sp>
        <p:nvSpPr>
          <p:cNvPr id="16" name="Text 14"/>
          <p:cNvSpPr/>
          <p:nvPr/>
        </p:nvSpPr>
        <p:spPr>
          <a:xfrm>
            <a:off x="5295602" y="2030611"/>
            <a:ext cx="1460450" cy="1650950"/>
          </a:xfrm>
          <a:prstGeom prst="roundRect">
            <a:avLst>
              <a:gd name="adj" fmla="val 7826"/>
            </a:avLst>
          </a:prstGeom>
          <a:solidFill>
            <a:srgbClr val="1D1811"/>
          </a:solidFill>
          <a:ln w="19050">
            <a:solidFill>
              <a:srgbClr val="CE7F44"/>
            </a:solidFill>
          </a:ln>
        </p:spPr>
        <p:txBody>
          <a:bodyPr wrap="square" rtlCol="0" anchor="ctr"/>
          <a:lstStyle/>
          <a:p>
            <a:pPr indent="0" marL="0">
              <a:buNone/>
            </a:pPr>
            <a:endParaRPr lang="en-US" dirty="0"/>
          </a:p>
        </p:txBody>
      </p:sp>
      <p:sp>
        <p:nvSpPr>
          <p:cNvPr id="17" name="Text 15"/>
          <p:cNvSpPr/>
          <p:nvPr/>
        </p:nvSpPr>
        <p:spPr>
          <a:xfrm>
            <a:off x="5481684" y="2251918"/>
            <a:ext cx="1088288" cy="438150"/>
          </a:xfrm>
          <a:prstGeom prst="rect">
            <a:avLst/>
          </a:prstGeom>
          <a:noFill/>
          <a:ln/>
        </p:spPr>
        <p:txBody>
          <a:bodyPr wrap="square" lIns="0" tIns="0" rIns="0" bIns="0" rtlCol="0" anchor="t"/>
          <a:lstStyle/>
          <a:p>
            <a:pPr algn="ctr" indent="0" marL="0">
              <a:buNone/>
            </a:pPr>
            <a:r>
              <a:rPr lang="en-US" sz="3000" dirty="0">
                <a:solidFill>
                  <a:srgbClr val="CE7F44"/>
                </a:solidFill>
                <a:latin typeface="Georgia" pitchFamily="34" charset="0"/>
                <a:ea typeface="Georgia" pitchFamily="34" charset="-122"/>
                <a:cs typeface="Georgia" pitchFamily="34" charset="-120"/>
              </a:rPr>
              <a:t>—</a:t>
            </a:r>
            <a:endParaRPr lang="en-US" sz="3000" dirty="0"/>
          </a:p>
        </p:txBody>
      </p:sp>
      <p:sp>
        <p:nvSpPr>
          <p:cNvPr id="18" name="Text 16"/>
          <p:cNvSpPr/>
          <p:nvPr/>
        </p:nvSpPr>
        <p:spPr>
          <a:xfrm>
            <a:off x="5481684" y="2791569"/>
            <a:ext cx="1088288" cy="325636"/>
          </a:xfrm>
          <a:prstGeom prst="rect">
            <a:avLst/>
          </a:prstGeom>
          <a:noFill/>
          <a:ln/>
        </p:spPr>
        <p:txBody>
          <a:bodyPr wrap="square" lIns="0" tIns="0" rIns="0" bIns="0" rtlCol="0" anchor="t"/>
          <a:lstStyle/>
          <a:p>
            <a:pPr algn="ctr" indent="0" marL="0">
              <a:lnSpc>
                <a:spcPts val="1283"/>
              </a:lnSpc>
              <a:spcBef>
                <a:spcPts val="800"/>
              </a:spcBef>
              <a:buNone/>
            </a:pPr>
            <a:r>
              <a:rPr lang="en-US" sz="950" b="1" dirty="0">
                <a:solidFill>
                  <a:srgbClr val="F3EEE4"/>
                </a:solidFill>
                <a:latin typeface="Arial" pitchFamily="34" charset="0"/>
                <a:ea typeface="Arial" pitchFamily="34" charset="-122"/>
                <a:cs typeface="Arial" pitchFamily="34" charset="-120"/>
              </a:rPr>
              <a:t>Community events hosted</a:t>
            </a:r>
            <a:endParaRPr lang="en-US" sz="950" dirty="0"/>
          </a:p>
        </p:txBody>
      </p:sp>
      <p:sp>
        <p:nvSpPr>
          <p:cNvPr id="19" name="Text 17"/>
          <p:cNvSpPr/>
          <p:nvPr/>
        </p:nvSpPr>
        <p:spPr>
          <a:xfrm>
            <a:off x="5481684" y="3193405"/>
            <a:ext cx="1088288" cy="266700"/>
          </a:xfrm>
          <a:prstGeom prst="rect">
            <a:avLst/>
          </a:prstGeom>
          <a:noFill/>
          <a:ln/>
        </p:spPr>
        <p:txBody>
          <a:bodyPr wrap="square" lIns="0" tIns="0" rIns="0" bIns="0" rtlCol="0" anchor="t"/>
          <a:lstStyle/>
          <a:p>
            <a:pPr algn="ctr" indent="0" marL="0">
              <a:lnSpc>
                <a:spcPts val="1050"/>
              </a:lnSpc>
              <a:spcBef>
                <a:spcPts val="600"/>
              </a:spcBef>
              <a:buNone/>
            </a:pPr>
            <a:r>
              <a:rPr lang="en-US" sz="750" dirty="0">
                <a:solidFill>
                  <a:srgbClr val="A89E8F"/>
                </a:solidFill>
                <a:latin typeface="Arial" pitchFamily="34" charset="0"/>
                <a:ea typeface="Arial" pitchFamily="34" charset="-122"/>
                <a:cs typeface="Arial" pitchFamily="34" charset="-120"/>
              </a:rPr>
              <a:t>3 at MyBW, confirm full count</a:t>
            </a:r>
            <a:endParaRPr lang="en-US" sz="750" dirty="0"/>
          </a:p>
        </p:txBody>
      </p:sp>
      <p:sp>
        <p:nvSpPr>
          <p:cNvPr id="20" name="Text 18"/>
          <p:cNvSpPr/>
          <p:nvPr/>
        </p:nvSpPr>
        <p:spPr>
          <a:xfrm>
            <a:off x="6883003" y="2030611"/>
            <a:ext cx="1460450" cy="1650950"/>
          </a:xfrm>
          <a:prstGeom prst="roundRect">
            <a:avLst>
              <a:gd name="adj" fmla="val 7826"/>
            </a:avLst>
          </a:prstGeom>
          <a:solidFill>
            <a:srgbClr val="1D1811"/>
          </a:solidFill>
          <a:ln w="19050">
            <a:solidFill>
              <a:srgbClr val="CE7F44"/>
            </a:solidFill>
          </a:ln>
        </p:spPr>
        <p:txBody>
          <a:bodyPr wrap="square" rtlCol="0" anchor="ctr"/>
          <a:lstStyle/>
          <a:p>
            <a:pPr indent="0" marL="0">
              <a:buNone/>
            </a:pPr>
            <a:endParaRPr lang="en-US" dirty="0"/>
          </a:p>
        </p:txBody>
      </p:sp>
      <p:sp>
        <p:nvSpPr>
          <p:cNvPr id="21" name="Text 19"/>
          <p:cNvSpPr/>
          <p:nvPr/>
        </p:nvSpPr>
        <p:spPr>
          <a:xfrm>
            <a:off x="7069084" y="2318593"/>
            <a:ext cx="1088288" cy="438150"/>
          </a:xfrm>
          <a:prstGeom prst="rect">
            <a:avLst/>
          </a:prstGeom>
          <a:noFill/>
          <a:ln/>
        </p:spPr>
        <p:txBody>
          <a:bodyPr wrap="square" lIns="0" tIns="0" rIns="0" bIns="0" rtlCol="0" anchor="t"/>
          <a:lstStyle/>
          <a:p>
            <a:pPr algn="ctr" indent="0" marL="0">
              <a:buNone/>
            </a:pPr>
            <a:r>
              <a:rPr lang="en-US" sz="3000" dirty="0">
                <a:solidFill>
                  <a:srgbClr val="CE7F44"/>
                </a:solidFill>
                <a:latin typeface="Georgia" pitchFamily="34" charset="0"/>
                <a:ea typeface="Georgia" pitchFamily="34" charset="-122"/>
                <a:cs typeface="Georgia" pitchFamily="34" charset="-120"/>
              </a:rPr>
              <a:t>—</a:t>
            </a:r>
            <a:endParaRPr lang="en-US" sz="3000" dirty="0"/>
          </a:p>
        </p:txBody>
      </p:sp>
      <p:sp>
        <p:nvSpPr>
          <p:cNvPr id="22" name="Text 20"/>
          <p:cNvSpPr/>
          <p:nvPr/>
        </p:nvSpPr>
        <p:spPr>
          <a:xfrm>
            <a:off x="7069084" y="2858244"/>
            <a:ext cx="1088288" cy="325636"/>
          </a:xfrm>
          <a:prstGeom prst="rect">
            <a:avLst/>
          </a:prstGeom>
          <a:noFill/>
          <a:ln/>
        </p:spPr>
        <p:txBody>
          <a:bodyPr wrap="square" lIns="0" tIns="0" rIns="0" bIns="0" rtlCol="0" anchor="t"/>
          <a:lstStyle/>
          <a:p>
            <a:pPr algn="ctr" indent="0" marL="0">
              <a:lnSpc>
                <a:spcPts val="1283"/>
              </a:lnSpc>
              <a:spcBef>
                <a:spcPts val="800"/>
              </a:spcBef>
              <a:buNone/>
            </a:pPr>
            <a:r>
              <a:rPr lang="en-US" sz="950" b="1" dirty="0">
                <a:solidFill>
                  <a:srgbClr val="F3EEE4"/>
                </a:solidFill>
                <a:latin typeface="Arial" pitchFamily="34" charset="0"/>
                <a:ea typeface="Arial" pitchFamily="34" charset="-122"/>
                <a:cs typeface="Arial" pitchFamily="34" charset="-120"/>
              </a:rPr>
              <a:t>Paying subscribers</a:t>
            </a:r>
            <a:endParaRPr lang="en-US" sz="950" dirty="0"/>
          </a:p>
        </p:txBody>
      </p:sp>
      <p:sp>
        <p:nvSpPr>
          <p:cNvPr id="23" name="Text 21"/>
          <p:cNvSpPr/>
          <p:nvPr/>
        </p:nvSpPr>
        <p:spPr>
          <a:xfrm>
            <a:off x="7069084" y="3260080"/>
            <a:ext cx="1088288" cy="133350"/>
          </a:xfrm>
          <a:prstGeom prst="rect">
            <a:avLst/>
          </a:prstGeom>
          <a:noFill/>
          <a:ln/>
        </p:spPr>
        <p:txBody>
          <a:bodyPr wrap="square" lIns="0" tIns="0" rIns="0" bIns="0" rtlCol="0" anchor="t"/>
          <a:lstStyle/>
          <a:p>
            <a:pPr algn="ctr" indent="0" marL="0">
              <a:lnSpc>
                <a:spcPts val="1050"/>
              </a:lnSpc>
              <a:spcBef>
                <a:spcPts val="600"/>
              </a:spcBef>
              <a:buNone/>
            </a:pPr>
            <a:r>
              <a:rPr lang="en-US" sz="750" dirty="0">
                <a:solidFill>
                  <a:srgbClr val="A89E8F"/>
                </a:solidFill>
                <a:latin typeface="Arial" pitchFamily="34" charset="0"/>
                <a:ea typeface="Arial" pitchFamily="34" charset="-122"/>
                <a:cs typeface="Arial" pitchFamily="34" charset="-120"/>
              </a:rPr>
              <a:t>confirm current figure</a:t>
            </a:r>
            <a:endParaRPr lang="en-US" sz="750" dirty="0"/>
          </a:p>
        </p:txBody>
      </p:sp>
      <p:sp>
        <p:nvSpPr>
          <p:cNvPr id="24" name="Text 22"/>
          <p:cNvSpPr/>
          <p:nvPr/>
        </p:nvSpPr>
        <p:spPr>
          <a:xfrm>
            <a:off x="533400" y="3960912"/>
            <a:ext cx="8238744" cy="142875"/>
          </a:xfrm>
          <a:prstGeom prst="rect">
            <a:avLst/>
          </a:prstGeom>
          <a:noFill/>
          <a:ln/>
        </p:spPr>
        <p:txBody>
          <a:bodyPr wrap="square" lIns="0" tIns="0" rIns="0" bIns="0" rtlCol="0" anchor="t"/>
          <a:lstStyle/>
          <a:p>
            <a:pPr algn="l" indent="0" marL="0">
              <a:spcBef>
                <a:spcPts val="2200"/>
              </a:spcBef>
              <a:buNone/>
            </a:pPr>
            <a:r>
              <a:rPr lang="en-US" sz="1000" dirty="0">
                <a:solidFill>
                  <a:srgbClr val="A89E8F"/>
                </a:solidFill>
                <a:latin typeface="Arial" pitchFamily="34" charset="0"/>
                <a:ea typeface="Arial" pitchFamily="34" charset="-122"/>
                <a:cs typeface="Arial" pitchFamily="34" charset="-120"/>
              </a:rPr>
              <a:t>Placeholders on purpose. Say only what you can defend in Q and A.</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0E9"/>
        </a:solidFill>
      </p:bgPr>
    </p:bg>
    <p:spTree>
      <p:nvGrpSpPr>
        <p:cNvPr id="1" name=""/>
        <p:cNvGrpSpPr/>
        <p:nvPr/>
      </p:nvGrpSpPr>
      <p:grpSpPr>
        <a:xfrm>
          <a:off x="0" y="0"/>
          <a:ext cx="0" cy="0"/>
          <a:chOff x="0" y="0"/>
          <a:chExt cx="0" cy="0"/>
        </a:xfrm>
      </p:grpSpPr>
      <p:sp>
        <p:nvSpPr>
          <p:cNvPr id="2" name="Text 0"/>
          <p:cNvSpPr/>
          <p:nvPr/>
        </p:nvSpPr>
        <p:spPr>
          <a:xfrm>
            <a:off x="533400" y="381000"/>
            <a:ext cx="8238744" cy="114300"/>
          </a:xfrm>
          <a:prstGeom prst="rect">
            <a:avLst/>
          </a:prstGeom>
          <a:noFill/>
          <a:ln/>
        </p:spPr>
        <p:txBody>
          <a:bodyPr wrap="square" lIns="0" tIns="0" rIns="0" bIns="0" rtlCol="0" anchor="t"/>
          <a:lstStyle/>
          <a:p>
            <a:pPr algn="l" indent="0" marL="0">
              <a:spcAft>
                <a:spcPts val="1200"/>
              </a:spcAft>
              <a:buNone/>
            </a:pPr>
            <a:r>
              <a:rPr lang="en-US" sz="850" b="1" dirty="0">
                <a:solidFill>
                  <a:srgbClr val="B96B33"/>
                </a:solidFill>
                <a:latin typeface="Arial" pitchFamily="34" charset="0"/>
                <a:ea typeface="Arial" pitchFamily="34" charset="-122"/>
                <a:cs typeface="Arial" pitchFamily="34" charset="-120"/>
              </a:rPr>
              <a:t>ON THE RECORD</a:t>
            </a:r>
            <a:endParaRPr lang="en-US" sz="850" dirty="0"/>
          </a:p>
        </p:txBody>
      </p:sp>
      <p:sp>
        <p:nvSpPr>
          <p:cNvPr id="3" name="Text 1"/>
          <p:cNvSpPr/>
          <p:nvPr/>
        </p:nvSpPr>
        <p:spPr>
          <a:xfrm>
            <a:off x="533400" y="647700"/>
            <a:ext cx="8238744" cy="685800"/>
          </a:xfrm>
          <a:prstGeom prst="rect">
            <a:avLst/>
          </a:prstGeom>
          <a:noFill/>
          <a:ln/>
        </p:spPr>
        <p:txBody>
          <a:bodyPr wrap="square" lIns="0" tIns="0" rIns="0" bIns="0" rtlCol="0" anchor="t"/>
          <a:lstStyle/>
          <a:p>
            <a:pPr algn="l" indent="0" marL="0">
              <a:buNone/>
            </a:pPr>
            <a:r>
              <a:rPr lang="en-US" sz="2400" b="1" dirty="0">
                <a:solidFill>
                  <a:srgbClr val="2B2722"/>
                </a:solidFill>
                <a:latin typeface="Georgia" pitchFamily="34" charset="0"/>
                <a:ea typeface="Georgia" pitchFamily="34" charset="-122"/>
                <a:cs typeface="Georgia" pitchFamily="34" charset="-120"/>
              </a:rPr>
              <a:t>Every episode is a channel and a testimonial at once.</a:t>
            </a:r>
            <a:endParaRPr lang="en-US" sz="2400" dirty="0"/>
          </a:p>
        </p:txBody>
      </p:sp>
      <p:sp>
        <p:nvSpPr>
          <p:cNvPr id="4" name="Text 2"/>
          <p:cNvSpPr/>
          <p:nvPr/>
        </p:nvSpPr>
        <p:spPr>
          <a:xfrm>
            <a:off x="533400" y="1587401"/>
            <a:ext cx="1879550" cy="2260550"/>
          </a:xfrm>
          <a:prstGeom prst="roundRect">
            <a:avLst>
              <a:gd name="adj" fmla="val 6081"/>
            </a:avLst>
          </a:prstGeom>
          <a:solidFill>
            <a:srgbClr val="FBF8F3"/>
          </a:solidFill>
          <a:ln w="9525">
            <a:solidFill>
              <a:srgbClr val="E3DCCE"/>
            </a:solidFill>
          </a:ln>
        </p:spPr>
        <p:txBody>
          <a:bodyPr wrap="square" rtlCol="0" anchor="ctr"/>
          <a:lstStyle/>
          <a:p>
            <a:pPr indent="0" marL="0">
              <a:buNone/>
            </a:pPr>
            <a:endParaRPr lang="en-US" dirty="0"/>
          </a:p>
        </p:txBody>
      </p:sp>
      <p:sp>
        <p:nvSpPr>
          <p:cNvPr id="5" name="Text 3"/>
          <p:cNvSpPr/>
          <p:nvPr/>
        </p:nvSpPr>
        <p:spPr>
          <a:xfrm>
            <a:off x="720626" y="1774627"/>
            <a:ext cx="1535201" cy="673298"/>
          </a:xfrm>
          <a:prstGeom prst="rect">
            <a:avLst/>
          </a:prstGeom>
          <a:noFill/>
          <a:ln/>
        </p:spPr>
        <p:txBody>
          <a:bodyPr wrap="square" lIns="0" tIns="0" rIns="0" bIns="0" rtlCol="0" anchor="t"/>
          <a:lstStyle/>
          <a:p>
            <a:pPr algn="l" indent="0" marL="0">
              <a:lnSpc>
                <a:spcPts val="1768"/>
              </a:lnSpc>
              <a:buNone/>
            </a:pPr>
            <a:r>
              <a:rPr lang="en-US" sz="1300" i="1" dirty="0">
                <a:solidFill>
                  <a:srgbClr val="2B2722"/>
                </a:solidFill>
                <a:latin typeface="Georgia" pitchFamily="34" charset="0"/>
                <a:ea typeface="Georgia" pitchFamily="34" charset="-122"/>
                <a:cs typeface="Georgia" pitchFamily="34" charset="-120"/>
              </a:rPr>
              <a:t>“Training for keeping your mind sharp.”</a:t>
            </a:r>
            <a:endParaRPr lang="en-US" sz="1300" dirty="0"/>
          </a:p>
        </p:txBody>
      </p:sp>
      <p:sp>
        <p:nvSpPr>
          <p:cNvPr id="6" name="Text 4"/>
          <p:cNvSpPr/>
          <p:nvPr/>
        </p:nvSpPr>
        <p:spPr>
          <a:xfrm>
            <a:off x="720626" y="2625626"/>
            <a:ext cx="1535201" cy="133350"/>
          </a:xfrm>
          <a:prstGeom prst="rect">
            <a:avLst/>
          </a:prstGeom>
          <a:noFill/>
          <a:ln/>
        </p:spPr>
        <p:txBody>
          <a:bodyPr wrap="square" lIns="0" tIns="0" rIns="0" bIns="0" rtlCol="0" anchor="t"/>
          <a:lstStyle/>
          <a:p>
            <a:pPr algn="l" indent="0" marL="0">
              <a:spcBef>
                <a:spcPts val="1400"/>
              </a:spcBef>
              <a:buNone/>
            </a:pPr>
            <a:r>
              <a:rPr lang="en-US" sz="950" b="1" dirty="0">
                <a:solidFill>
                  <a:srgbClr val="2B2722"/>
                </a:solidFill>
                <a:latin typeface="Arial" pitchFamily="34" charset="0"/>
                <a:ea typeface="Arial" pitchFamily="34" charset="-122"/>
                <a:cs typeface="Arial" pitchFamily="34" charset="-120"/>
              </a:rPr>
              <a:t>Podcast guest</a:t>
            </a:r>
            <a:endParaRPr lang="en-US" sz="950" dirty="0"/>
          </a:p>
        </p:txBody>
      </p:sp>
      <p:sp>
        <p:nvSpPr>
          <p:cNvPr id="7" name="Text 5"/>
          <p:cNvSpPr/>
          <p:nvPr/>
        </p:nvSpPr>
        <p:spPr>
          <a:xfrm>
            <a:off x="720626" y="2822377"/>
            <a:ext cx="1535201" cy="266700"/>
          </a:xfrm>
          <a:prstGeom prst="rect">
            <a:avLst/>
          </a:prstGeom>
          <a:noFill/>
          <a:ln/>
        </p:spPr>
        <p:txBody>
          <a:bodyPr wrap="square" lIns="0" tIns="0" rIns="0" bIns="0" rtlCol="0" anchor="t"/>
          <a:lstStyle/>
          <a:p>
            <a:pPr algn="l" indent="0" marL="0">
              <a:lnSpc>
                <a:spcPts val="1050"/>
              </a:lnSpc>
              <a:spcBef>
                <a:spcPts val="500"/>
              </a:spcBef>
              <a:buNone/>
            </a:pPr>
            <a:r>
              <a:rPr lang="en-US" sz="750" dirty="0">
                <a:solidFill>
                  <a:srgbClr val="B96B33"/>
                </a:solidFill>
                <a:latin typeface="Arial" pitchFamily="34" charset="0"/>
                <a:ea typeface="Arial" pitchFamily="34" charset="-122"/>
                <a:cs typeface="Arial" pitchFamily="34" charset="-120"/>
              </a:rPr>
              <a:t>Paraphrase. Pull the verbatim line from the recording.</a:t>
            </a:r>
            <a:endParaRPr lang="en-US" sz="750" dirty="0"/>
          </a:p>
        </p:txBody>
      </p:sp>
      <p:sp>
        <p:nvSpPr>
          <p:cNvPr id="8" name="Text 6"/>
          <p:cNvSpPr/>
          <p:nvPr/>
        </p:nvSpPr>
        <p:spPr>
          <a:xfrm>
            <a:off x="2565350" y="1587401"/>
            <a:ext cx="1879550" cy="2260550"/>
          </a:xfrm>
          <a:prstGeom prst="roundRect">
            <a:avLst>
              <a:gd name="adj" fmla="val 6081"/>
            </a:avLst>
          </a:prstGeom>
          <a:solidFill>
            <a:srgbClr val="FBF8F3"/>
          </a:solidFill>
          <a:ln w="9525">
            <a:solidFill>
              <a:srgbClr val="E3DCCE"/>
            </a:solidFill>
          </a:ln>
        </p:spPr>
        <p:txBody>
          <a:bodyPr wrap="square" rtlCol="0" anchor="ctr"/>
          <a:lstStyle/>
          <a:p>
            <a:pPr indent="0" marL="0">
              <a:buNone/>
            </a:pPr>
            <a:endParaRPr lang="en-US" dirty="0"/>
          </a:p>
        </p:txBody>
      </p:sp>
      <p:sp>
        <p:nvSpPr>
          <p:cNvPr id="9" name="Text 7"/>
          <p:cNvSpPr/>
          <p:nvPr/>
        </p:nvSpPr>
        <p:spPr>
          <a:xfrm>
            <a:off x="2752576" y="1774627"/>
            <a:ext cx="1535201" cy="897731"/>
          </a:xfrm>
          <a:prstGeom prst="rect">
            <a:avLst/>
          </a:prstGeom>
          <a:noFill/>
          <a:ln/>
        </p:spPr>
        <p:txBody>
          <a:bodyPr wrap="square" lIns="0" tIns="0" rIns="0" bIns="0" rtlCol="0" anchor="t"/>
          <a:lstStyle/>
          <a:p>
            <a:pPr algn="l" indent="0" marL="0">
              <a:lnSpc>
                <a:spcPts val="1768"/>
              </a:lnSpc>
              <a:buNone/>
            </a:pPr>
            <a:r>
              <a:rPr lang="en-US" sz="1300" i="1" dirty="0">
                <a:solidFill>
                  <a:srgbClr val="2B2722"/>
                </a:solidFill>
                <a:latin typeface="Georgia" pitchFamily="34" charset="0"/>
                <a:ea typeface="Georgia" pitchFamily="34" charset="-122"/>
                <a:cs typeface="Georgia" pitchFamily="34" charset="-120"/>
              </a:rPr>
              <a:t>“Private AI you can actually trust is the thing I have been waiting for.”</a:t>
            </a:r>
            <a:endParaRPr lang="en-US" sz="1300" dirty="0"/>
          </a:p>
        </p:txBody>
      </p:sp>
      <p:sp>
        <p:nvSpPr>
          <p:cNvPr id="10" name="Text 8"/>
          <p:cNvSpPr/>
          <p:nvPr/>
        </p:nvSpPr>
        <p:spPr>
          <a:xfrm>
            <a:off x="2752576" y="2850059"/>
            <a:ext cx="1535201" cy="133350"/>
          </a:xfrm>
          <a:prstGeom prst="rect">
            <a:avLst/>
          </a:prstGeom>
          <a:noFill/>
          <a:ln/>
        </p:spPr>
        <p:txBody>
          <a:bodyPr wrap="square" lIns="0" tIns="0" rIns="0" bIns="0" rtlCol="0" anchor="t"/>
          <a:lstStyle/>
          <a:p>
            <a:pPr algn="l" indent="0" marL="0">
              <a:spcBef>
                <a:spcPts val="1400"/>
              </a:spcBef>
              <a:buNone/>
            </a:pPr>
            <a:r>
              <a:rPr lang="en-US" sz="950" b="1" dirty="0">
                <a:solidFill>
                  <a:srgbClr val="2B2722"/>
                </a:solidFill>
                <a:latin typeface="Arial" pitchFamily="34" charset="0"/>
                <a:ea typeface="Arial" pitchFamily="34" charset="-122"/>
                <a:cs typeface="Arial" pitchFamily="34" charset="-120"/>
              </a:rPr>
              <a:t>Podcast guest</a:t>
            </a:r>
            <a:endParaRPr lang="en-US" sz="950" dirty="0"/>
          </a:p>
        </p:txBody>
      </p:sp>
      <p:sp>
        <p:nvSpPr>
          <p:cNvPr id="11" name="Text 9"/>
          <p:cNvSpPr/>
          <p:nvPr/>
        </p:nvSpPr>
        <p:spPr>
          <a:xfrm>
            <a:off x="2752576" y="3046809"/>
            <a:ext cx="1535201" cy="266700"/>
          </a:xfrm>
          <a:prstGeom prst="rect">
            <a:avLst/>
          </a:prstGeom>
          <a:noFill/>
          <a:ln/>
        </p:spPr>
        <p:txBody>
          <a:bodyPr wrap="square" lIns="0" tIns="0" rIns="0" bIns="0" rtlCol="0" anchor="t"/>
          <a:lstStyle/>
          <a:p>
            <a:pPr algn="l" indent="0" marL="0">
              <a:lnSpc>
                <a:spcPts val="1050"/>
              </a:lnSpc>
              <a:spcBef>
                <a:spcPts val="500"/>
              </a:spcBef>
              <a:buNone/>
            </a:pPr>
            <a:r>
              <a:rPr lang="en-US" sz="750" dirty="0">
                <a:solidFill>
                  <a:srgbClr val="B96B33"/>
                </a:solidFill>
                <a:latin typeface="Arial" pitchFamily="34" charset="0"/>
                <a:ea typeface="Arial" pitchFamily="34" charset="-122"/>
                <a:cs typeface="Arial" pitchFamily="34" charset="-120"/>
              </a:rPr>
              <a:t>Paraphrase. Confirm name, title, and permission.</a:t>
            </a:r>
            <a:endParaRPr lang="en-US" sz="750" dirty="0"/>
          </a:p>
        </p:txBody>
      </p:sp>
      <p:sp>
        <p:nvSpPr>
          <p:cNvPr id="12" name="Text 10"/>
          <p:cNvSpPr/>
          <p:nvPr/>
        </p:nvSpPr>
        <p:spPr>
          <a:xfrm>
            <a:off x="4597301" y="1587401"/>
            <a:ext cx="1879550" cy="2260550"/>
          </a:xfrm>
          <a:prstGeom prst="roundRect">
            <a:avLst>
              <a:gd name="adj" fmla="val 6081"/>
            </a:avLst>
          </a:prstGeom>
          <a:solidFill>
            <a:srgbClr val="FBF8F3"/>
          </a:solidFill>
          <a:ln w="9525">
            <a:solidFill>
              <a:srgbClr val="E3DCCE"/>
            </a:solidFill>
          </a:ln>
        </p:spPr>
        <p:txBody>
          <a:bodyPr wrap="square" rtlCol="0" anchor="ctr"/>
          <a:lstStyle/>
          <a:p>
            <a:pPr indent="0" marL="0">
              <a:buNone/>
            </a:pPr>
            <a:endParaRPr lang="en-US" dirty="0"/>
          </a:p>
        </p:txBody>
      </p:sp>
      <p:sp>
        <p:nvSpPr>
          <p:cNvPr id="13" name="Text 11"/>
          <p:cNvSpPr/>
          <p:nvPr/>
        </p:nvSpPr>
        <p:spPr>
          <a:xfrm>
            <a:off x="4784527" y="1774627"/>
            <a:ext cx="1535201" cy="224433"/>
          </a:xfrm>
          <a:prstGeom prst="rect">
            <a:avLst/>
          </a:prstGeom>
          <a:noFill/>
          <a:ln/>
        </p:spPr>
        <p:txBody>
          <a:bodyPr wrap="square" lIns="0" tIns="0" rIns="0" bIns="0" rtlCol="0" anchor="t"/>
          <a:lstStyle/>
          <a:p>
            <a:pPr algn="l" indent="0" marL="0">
              <a:lnSpc>
                <a:spcPts val="1768"/>
              </a:lnSpc>
              <a:buNone/>
            </a:pPr>
            <a:r>
              <a:rPr lang="en-US" sz="1300" i="1" dirty="0">
                <a:solidFill>
                  <a:srgbClr val="2B2722"/>
                </a:solidFill>
                <a:latin typeface="Georgia" pitchFamily="34" charset="0"/>
                <a:ea typeface="Georgia" pitchFamily="34" charset="-122"/>
                <a:cs typeface="Georgia" pitchFamily="34" charset="-120"/>
              </a:rPr>
              <a:t>“My kid loves it.”</a:t>
            </a:r>
            <a:endParaRPr lang="en-US" sz="1300" dirty="0"/>
          </a:p>
        </p:txBody>
      </p:sp>
      <p:sp>
        <p:nvSpPr>
          <p:cNvPr id="14" name="Text 12"/>
          <p:cNvSpPr/>
          <p:nvPr/>
        </p:nvSpPr>
        <p:spPr>
          <a:xfrm>
            <a:off x="4784527" y="2176760"/>
            <a:ext cx="1535201" cy="133350"/>
          </a:xfrm>
          <a:prstGeom prst="rect">
            <a:avLst/>
          </a:prstGeom>
          <a:noFill/>
          <a:ln/>
        </p:spPr>
        <p:txBody>
          <a:bodyPr wrap="square" lIns="0" tIns="0" rIns="0" bIns="0" rtlCol="0" anchor="t"/>
          <a:lstStyle/>
          <a:p>
            <a:pPr algn="l" indent="0" marL="0">
              <a:spcBef>
                <a:spcPts val="1400"/>
              </a:spcBef>
              <a:buNone/>
            </a:pPr>
            <a:r>
              <a:rPr lang="en-US" sz="950" b="1" dirty="0">
                <a:solidFill>
                  <a:srgbClr val="2B2722"/>
                </a:solidFill>
                <a:latin typeface="Arial" pitchFamily="34" charset="0"/>
                <a:ea typeface="Arial" pitchFamily="34" charset="-122"/>
                <a:cs typeface="Arial" pitchFamily="34" charset="-120"/>
              </a:rPr>
              <a:t>Parent, kids class</a:t>
            </a:r>
            <a:endParaRPr lang="en-US" sz="950" dirty="0"/>
          </a:p>
        </p:txBody>
      </p:sp>
      <p:sp>
        <p:nvSpPr>
          <p:cNvPr id="15" name="Text 13"/>
          <p:cNvSpPr/>
          <p:nvPr/>
        </p:nvSpPr>
        <p:spPr>
          <a:xfrm>
            <a:off x="4784527" y="2373511"/>
            <a:ext cx="1535201" cy="266700"/>
          </a:xfrm>
          <a:prstGeom prst="rect">
            <a:avLst/>
          </a:prstGeom>
          <a:noFill/>
          <a:ln/>
        </p:spPr>
        <p:txBody>
          <a:bodyPr wrap="square" lIns="0" tIns="0" rIns="0" bIns="0" rtlCol="0" anchor="t"/>
          <a:lstStyle/>
          <a:p>
            <a:pPr algn="l" indent="0" marL="0">
              <a:lnSpc>
                <a:spcPts val="1050"/>
              </a:lnSpc>
              <a:spcBef>
                <a:spcPts val="500"/>
              </a:spcBef>
              <a:buNone/>
            </a:pPr>
            <a:r>
              <a:rPr lang="en-US" sz="750" dirty="0">
                <a:solidFill>
                  <a:srgbClr val="B96B33"/>
                </a:solidFill>
                <a:latin typeface="Arial" pitchFamily="34" charset="0"/>
                <a:ea typeface="Arial" pitchFamily="34" charset="-122"/>
                <a:cs typeface="Arial" pitchFamily="34" charset="-120"/>
              </a:rPr>
              <a:t>Reported repeatedly. Get one on the record in writing.</a:t>
            </a:r>
            <a:endParaRPr lang="en-US" sz="750" dirty="0"/>
          </a:p>
        </p:txBody>
      </p:sp>
      <p:sp>
        <p:nvSpPr>
          <p:cNvPr id="16" name="Text 14"/>
          <p:cNvSpPr/>
          <p:nvPr/>
        </p:nvSpPr>
        <p:spPr>
          <a:xfrm>
            <a:off x="6629251" y="1587401"/>
            <a:ext cx="1879550" cy="2260550"/>
          </a:xfrm>
          <a:prstGeom prst="roundRect">
            <a:avLst>
              <a:gd name="adj" fmla="val 6081"/>
            </a:avLst>
          </a:prstGeom>
          <a:solidFill>
            <a:srgbClr val="F7EDE2"/>
          </a:solidFill>
          <a:ln w="19050">
            <a:solidFill>
              <a:srgbClr val="CE7F44"/>
            </a:solidFill>
          </a:ln>
        </p:spPr>
        <p:txBody>
          <a:bodyPr wrap="square" rtlCol="0" anchor="ctr"/>
          <a:lstStyle/>
          <a:p>
            <a:pPr indent="0" marL="0">
              <a:buNone/>
            </a:pPr>
            <a:endParaRPr lang="en-US" dirty="0"/>
          </a:p>
        </p:txBody>
      </p:sp>
      <p:sp>
        <p:nvSpPr>
          <p:cNvPr id="17" name="Text 15"/>
          <p:cNvSpPr/>
          <p:nvPr/>
        </p:nvSpPr>
        <p:spPr>
          <a:xfrm>
            <a:off x="6826002" y="1784152"/>
            <a:ext cx="1515770" cy="224433"/>
          </a:xfrm>
          <a:prstGeom prst="rect">
            <a:avLst/>
          </a:prstGeom>
          <a:noFill/>
          <a:ln/>
        </p:spPr>
        <p:txBody>
          <a:bodyPr wrap="square" lIns="0" tIns="0" rIns="0" bIns="0" rtlCol="0" anchor="t"/>
          <a:lstStyle/>
          <a:p>
            <a:pPr algn="l" indent="0" marL="0">
              <a:lnSpc>
                <a:spcPts val="1768"/>
              </a:lnSpc>
              <a:buNone/>
            </a:pPr>
            <a:r>
              <a:rPr lang="en-US" sz="1300" i="1" dirty="0">
                <a:solidFill>
                  <a:srgbClr val="2B2722"/>
                </a:solidFill>
                <a:latin typeface="Georgia" pitchFamily="34" charset="0"/>
                <a:ea typeface="Georgia" pitchFamily="34" charset="-122"/>
                <a:cs typeface="Georgia" pitchFamily="34" charset="-120"/>
              </a:rPr>
              <a:t>Quote to collect</a:t>
            </a:r>
            <a:endParaRPr lang="en-US" sz="1300" dirty="0"/>
          </a:p>
        </p:txBody>
      </p:sp>
      <p:sp>
        <p:nvSpPr>
          <p:cNvPr id="18" name="Text 16"/>
          <p:cNvSpPr/>
          <p:nvPr/>
        </p:nvSpPr>
        <p:spPr>
          <a:xfrm>
            <a:off x="6826002" y="2186285"/>
            <a:ext cx="1515770" cy="133350"/>
          </a:xfrm>
          <a:prstGeom prst="rect">
            <a:avLst/>
          </a:prstGeom>
          <a:noFill/>
          <a:ln/>
        </p:spPr>
        <p:txBody>
          <a:bodyPr wrap="square" lIns="0" tIns="0" rIns="0" bIns="0" rtlCol="0" anchor="t"/>
          <a:lstStyle/>
          <a:p>
            <a:pPr algn="l" indent="0" marL="0">
              <a:spcBef>
                <a:spcPts val="1400"/>
              </a:spcBef>
              <a:buNone/>
            </a:pPr>
            <a:r>
              <a:rPr lang="en-US" sz="950" b="1" dirty="0">
                <a:solidFill>
                  <a:srgbClr val="2B2722"/>
                </a:solidFill>
                <a:latin typeface="Arial" pitchFamily="34" charset="0"/>
                <a:ea typeface="Arial" pitchFamily="34" charset="-122"/>
                <a:cs typeface="Arial" pitchFamily="34" charset="-120"/>
              </a:rPr>
              <a:t>AI course student</a:t>
            </a:r>
            <a:endParaRPr lang="en-US" sz="950" dirty="0"/>
          </a:p>
        </p:txBody>
      </p:sp>
      <p:sp>
        <p:nvSpPr>
          <p:cNvPr id="19" name="Text 17"/>
          <p:cNvSpPr/>
          <p:nvPr/>
        </p:nvSpPr>
        <p:spPr>
          <a:xfrm>
            <a:off x="6826002" y="2383036"/>
            <a:ext cx="1515770" cy="266700"/>
          </a:xfrm>
          <a:prstGeom prst="rect">
            <a:avLst/>
          </a:prstGeom>
          <a:noFill/>
          <a:ln/>
        </p:spPr>
        <p:txBody>
          <a:bodyPr wrap="square" lIns="0" tIns="0" rIns="0" bIns="0" rtlCol="0" anchor="t"/>
          <a:lstStyle/>
          <a:p>
            <a:pPr algn="l" indent="0" marL="0">
              <a:lnSpc>
                <a:spcPts val="1050"/>
              </a:lnSpc>
              <a:spcBef>
                <a:spcPts val="500"/>
              </a:spcBef>
              <a:buNone/>
            </a:pPr>
            <a:r>
              <a:rPr lang="en-US" sz="750" dirty="0">
                <a:solidFill>
                  <a:srgbClr val="B96B33"/>
                </a:solidFill>
                <a:latin typeface="Arial" pitchFamily="34" charset="0"/>
                <a:ea typeface="Arial" pitchFamily="34" charset="-122"/>
                <a:cs typeface="Arial" pitchFamily="34" charset="-120"/>
              </a:rPr>
              <a:t>Not yet collected. Ask at the end of the next in person class.</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130E"/>
        </a:solidFill>
      </p:bgPr>
    </p:bg>
    <p:spTree>
      <p:nvGrpSpPr>
        <p:cNvPr id="1" name=""/>
        <p:cNvGrpSpPr/>
        <p:nvPr/>
      </p:nvGrpSpPr>
      <p:grpSpPr>
        <a:xfrm>
          <a:off x="0" y="0"/>
          <a:ext cx="0" cy="0"/>
          <a:chOff x="0" y="0"/>
          <a:chExt cx="0" cy="0"/>
        </a:xfrm>
      </p:grpSpPr>
      <p:sp>
        <p:nvSpPr>
          <p:cNvPr id="2" name="Text 0"/>
          <p:cNvSpPr/>
          <p:nvPr/>
        </p:nvSpPr>
        <p:spPr>
          <a:xfrm>
            <a:off x="533400" y="1086743"/>
            <a:ext cx="8238744" cy="114300"/>
          </a:xfrm>
          <a:prstGeom prst="rect">
            <a:avLst/>
          </a:prstGeom>
          <a:noFill/>
          <a:ln/>
        </p:spPr>
        <p:txBody>
          <a:bodyPr wrap="square" lIns="0" tIns="0" rIns="0" bIns="0" rtlCol="0" anchor="t"/>
          <a:lstStyle/>
          <a:p>
            <a:pPr algn="l" indent="0" marL="0">
              <a:spcAft>
                <a:spcPts val="1200"/>
              </a:spcAft>
              <a:buNone/>
            </a:pPr>
            <a:r>
              <a:rPr lang="en-US" sz="850" b="1" dirty="0">
                <a:solidFill>
                  <a:srgbClr val="E5A063"/>
                </a:solidFill>
                <a:latin typeface="Arial" pitchFamily="34" charset="0"/>
                <a:ea typeface="Arial" pitchFamily="34" charset="-122"/>
                <a:cs typeface="Arial" pitchFamily="34" charset="-120"/>
              </a:rPr>
              <a:t>WHY IT IS BUILT THIS WAY</a:t>
            </a:r>
            <a:endParaRPr lang="en-US" sz="850" dirty="0"/>
          </a:p>
        </p:txBody>
      </p:sp>
      <p:sp>
        <p:nvSpPr>
          <p:cNvPr id="3" name="Shape 1"/>
          <p:cNvSpPr/>
          <p:nvPr/>
        </p:nvSpPr>
        <p:spPr>
          <a:xfrm>
            <a:off x="542925" y="1353443"/>
            <a:ext cx="0" cy="1293614"/>
          </a:xfrm>
          <a:prstGeom prst="line">
            <a:avLst/>
          </a:prstGeom>
          <a:noFill/>
          <a:ln w="19050">
            <a:solidFill>
              <a:srgbClr val="F5C842"/>
            </a:solidFill>
            <a:prstDash val="solid"/>
          </a:ln>
        </p:spPr>
      </p:sp>
      <p:sp>
        <p:nvSpPr>
          <p:cNvPr id="4" name="Text 2"/>
          <p:cNvSpPr/>
          <p:nvPr/>
        </p:nvSpPr>
        <p:spPr>
          <a:xfrm>
            <a:off x="755600" y="1353443"/>
            <a:ext cx="7416114" cy="998339"/>
          </a:xfrm>
          <a:prstGeom prst="rect">
            <a:avLst/>
          </a:prstGeom>
          <a:noFill/>
          <a:ln/>
        </p:spPr>
        <p:txBody>
          <a:bodyPr wrap="square" lIns="0" tIns="0" rIns="0" bIns="0" rtlCol="0" anchor="t"/>
          <a:lstStyle/>
          <a:p>
            <a:pPr algn="l" indent="0" marL="0">
              <a:lnSpc>
                <a:spcPts val="2622"/>
              </a:lnSpc>
              <a:buNone/>
            </a:pPr>
            <a:r>
              <a:rPr lang="en-US" sz="1900" i="1" dirty="0">
                <a:solidFill>
                  <a:srgbClr val="F3EEE4"/>
                </a:solidFill>
                <a:latin typeface="Georgia" pitchFamily="34" charset="0"/>
                <a:ea typeface="Georgia" pitchFamily="34" charset="-122"/>
                <a:cs typeface="Georgia" pitchFamily="34" charset="-120"/>
              </a:rPr>
              <a:t>By involving human feedback at each step of decision-making, we reduce the incentive to offload high-level planning responsibility to the AI itself.</a:t>
            </a:r>
            <a:endParaRPr lang="en-US" sz="1900" dirty="0"/>
          </a:p>
        </p:txBody>
      </p:sp>
      <p:sp>
        <p:nvSpPr>
          <p:cNvPr id="5" name="Text 3"/>
          <p:cNvSpPr/>
          <p:nvPr/>
        </p:nvSpPr>
        <p:spPr>
          <a:xfrm>
            <a:off x="755600" y="2504182"/>
            <a:ext cx="7416114" cy="142875"/>
          </a:xfrm>
          <a:prstGeom prst="rect">
            <a:avLst/>
          </a:prstGeom>
          <a:noFill/>
          <a:ln/>
        </p:spPr>
        <p:txBody>
          <a:bodyPr wrap="square" lIns="0" tIns="0" rIns="0" bIns="0" rtlCol="0" anchor="t"/>
          <a:lstStyle/>
          <a:p>
            <a:pPr algn="l" indent="0" marL="0">
              <a:spcBef>
                <a:spcPts val="1200"/>
              </a:spcBef>
              <a:buNone/>
            </a:pPr>
            <a:r>
              <a:rPr lang="en-US" sz="1000" dirty="0">
                <a:solidFill>
                  <a:srgbClr val="A89E8F"/>
                </a:solidFill>
                <a:latin typeface="Arial" pitchFamily="34" charset="0"/>
                <a:ea typeface="Arial" pitchFamily="34" charset="-122"/>
                <a:cs typeface="Arial" pitchFamily="34" charset="-120"/>
              </a:rPr>
              <a:t>Vitalik Buterin, My Techno-Optimism</a:t>
            </a:r>
            <a:endParaRPr lang="en-US" sz="1000" dirty="0"/>
          </a:p>
        </p:txBody>
      </p:sp>
      <p:sp>
        <p:nvSpPr>
          <p:cNvPr id="6" name="Text 4"/>
          <p:cNvSpPr/>
          <p:nvPr/>
        </p:nvSpPr>
        <p:spPr>
          <a:xfrm>
            <a:off x="533400" y="3028057"/>
            <a:ext cx="7772400" cy="1028700"/>
          </a:xfrm>
          <a:prstGeom prst="rect">
            <a:avLst/>
          </a:prstGeom>
          <a:noFill/>
          <a:ln/>
        </p:spPr>
        <p:txBody>
          <a:bodyPr wrap="square" lIns="0" tIns="0" rIns="0" bIns="0" rtlCol="0" anchor="t"/>
          <a:lstStyle/>
          <a:p>
            <a:pPr algn="l" indent="0" marL="0">
              <a:lnSpc>
                <a:spcPts val="2700"/>
              </a:lnSpc>
              <a:spcBef>
                <a:spcPts val="3000"/>
              </a:spcBef>
              <a:buNone/>
            </a:pPr>
            <a:r>
              <a:rPr lang="en-US" sz="2000" dirty="0">
                <a:solidFill>
                  <a:srgbClr val="F3EEE4"/>
                </a:solidFill>
                <a:latin typeface="Georgia" pitchFamily="34" charset="0"/>
                <a:ea typeface="Georgia" pitchFamily="34" charset="-122"/>
                <a:cs typeface="Georgia" pitchFamily="34" charset="-120"/>
              </a:rPr>
              <a:t>An AI that never writes for you keeps the human in every loop by construction, so the incentive never forms. This is the loop, shipping today.</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6130E"/>
        </a:solidFill>
      </p:bgPr>
    </p:bg>
    <p:spTree>
      <p:nvGrpSpPr>
        <p:cNvPr id="1" name=""/>
        <p:cNvGrpSpPr/>
        <p:nvPr/>
      </p:nvGrpSpPr>
      <p:grpSpPr>
        <a:xfrm>
          <a:off x="0" y="0"/>
          <a:ext cx="0" cy="0"/>
          <a:chOff x="0" y="0"/>
          <a:chExt cx="0" cy="0"/>
        </a:xfrm>
      </p:grpSpPr>
      <p:pic>
        <p:nvPicPr>
          <p:cNvPr id="2" name="Image 0" descr="/Users/konradgnat/dev/startups/luminalog/luminalog-oss/web/public/demo-day/argo-emblem.png">    </p:cNvPr>
          <p:cNvPicPr>
            <a:picLocks noChangeAspect="1"/>
          </p:cNvPicPr>
          <p:nvPr/>
        </p:nvPicPr>
        <p:blipFill>
          <a:blip r:embed="rId1"/>
          <a:stretch>
            <a:fillRect/>
          </a:stretch>
        </p:blipFill>
        <p:spPr>
          <a:xfrm>
            <a:off x="4229100" y="980331"/>
            <a:ext cx="685800" cy="850850"/>
          </a:xfrm>
          <a:prstGeom prst="rect">
            <a:avLst/>
          </a:prstGeom>
        </p:spPr>
      </p:pic>
      <p:sp>
        <p:nvSpPr>
          <p:cNvPr id="3" name="Text 0"/>
          <p:cNvSpPr/>
          <p:nvPr/>
        </p:nvSpPr>
        <p:spPr>
          <a:xfrm>
            <a:off x="1203911" y="1958132"/>
            <a:ext cx="6736029" cy="792361"/>
          </a:xfrm>
          <a:prstGeom prst="rect">
            <a:avLst/>
          </a:prstGeom>
          <a:noFill/>
          <a:ln/>
        </p:spPr>
        <p:txBody>
          <a:bodyPr wrap="square" lIns="0" tIns="0" rIns="0" bIns="0" rtlCol="0" anchor="t"/>
          <a:lstStyle/>
          <a:p>
            <a:pPr algn="ctr" indent="0" marL="0">
              <a:lnSpc>
                <a:spcPts val="3120"/>
              </a:lnSpc>
              <a:spcBef>
                <a:spcPts val="1000"/>
              </a:spcBef>
              <a:buNone/>
            </a:pPr>
            <a:r>
              <a:rPr lang="en-US" sz="2400" dirty="0">
                <a:solidFill>
                  <a:srgbClr val="F3EEE4"/>
                </a:solidFill>
                <a:latin typeface="Georgia" pitchFamily="34" charset="0"/>
                <a:ea typeface="Georgia" pitchFamily="34" charset="-122"/>
                <a:cs typeface="Georgia" pitchFamily="34" charset="-120"/>
              </a:rPr>
              <a:t>Not a prototype, not a roadmap. You can use it tonight.</a:t>
            </a:r>
            <a:endParaRPr lang="en-US" sz="2400" dirty="0"/>
          </a:p>
        </p:txBody>
      </p:sp>
      <p:sp>
        <p:nvSpPr>
          <p:cNvPr id="4" name="Text 1"/>
          <p:cNvSpPr/>
          <p:nvPr/>
        </p:nvSpPr>
        <p:spPr>
          <a:xfrm>
            <a:off x="1914963" y="2953643"/>
            <a:ext cx="5314075" cy="133350"/>
          </a:xfrm>
          <a:prstGeom prst="rect">
            <a:avLst/>
          </a:prstGeom>
          <a:noFill/>
          <a:ln/>
        </p:spPr>
        <p:txBody>
          <a:bodyPr wrap="square" lIns="0" tIns="0" rIns="0" bIns="0" rtlCol="0" anchor="t"/>
          <a:lstStyle/>
          <a:p>
            <a:pPr algn="ctr" indent="0" marL="0">
              <a:spcBef>
                <a:spcPts val="1600"/>
              </a:spcBef>
              <a:buNone/>
            </a:pPr>
            <a:r>
              <a:rPr lang="en-US" sz="900" dirty="0">
                <a:solidFill>
                  <a:srgbClr val="E5A063"/>
                </a:solidFill>
                <a:latin typeface="Arial" pitchFamily="34" charset="0"/>
                <a:ea typeface="Arial" pitchFamily="34" charset="-122"/>
                <a:cs typeface="Arial" pitchFamily="34" charset="-120"/>
              </a:rPr>
              <a:t>LIVE ON IOS AND WEB · OPEN SOURCE · BUILT ON BASE · DEVCON MUMBAI</a:t>
            </a:r>
            <a:endParaRPr lang="en-US" sz="900" dirty="0"/>
          </a:p>
        </p:txBody>
      </p:sp>
      <p:sp>
        <p:nvSpPr>
          <p:cNvPr id="5" name="Text 2"/>
          <p:cNvSpPr/>
          <p:nvPr/>
        </p:nvSpPr>
        <p:spPr>
          <a:xfrm>
            <a:off x="1905000" y="3417094"/>
            <a:ext cx="5334000" cy="745927"/>
          </a:xfrm>
          <a:prstGeom prst="roundRect">
            <a:avLst>
              <a:gd name="adj" fmla="val 15323"/>
            </a:avLst>
          </a:prstGeom>
          <a:solidFill>
            <a:srgbClr val="1D1811"/>
          </a:solidFill>
          <a:ln w="19050">
            <a:solidFill>
              <a:srgbClr val="CE7F44"/>
            </a:solidFill>
          </a:ln>
        </p:spPr>
        <p:txBody>
          <a:bodyPr wrap="square" rtlCol="0" anchor="ctr"/>
          <a:lstStyle/>
          <a:p>
            <a:pPr indent="0" marL="0">
              <a:buNone/>
            </a:pPr>
            <a:endParaRPr lang="en-US" dirty="0"/>
          </a:p>
        </p:txBody>
      </p:sp>
      <p:sp>
        <p:nvSpPr>
          <p:cNvPr id="6" name="Text 3"/>
          <p:cNvSpPr/>
          <p:nvPr/>
        </p:nvSpPr>
        <p:spPr>
          <a:xfrm>
            <a:off x="2052346" y="3613845"/>
            <a:ext cx="5039308" cy="142875"/>
          </a:xfrm>
          <a:prstGeom prst="rect">
            <a:avLst/>
          </a:prstGeom>
          <a:noFill/>
          <a:ln/>
        </p:spPr>
        <p:txBody>
          <a:bodyPr wrap="square" lIns="0" tIns="0" rIns="0" bIns="0" rtlCol="0" anchor="t"/>
          <a:lstStyle/>
          <a:p>
            <a:pPr algn="ctr" indent="0" marL="0">
              <a:buNone/>
            </a:pPr>
            <a:r>
              <a:rPr lang="en-US" sz="1000" b="1" dirty="0">
                <a:solidFill>
                  <a:srgbClr val="CE7F44"/>
                </a:solidFill>
                <a:latin typeface="Arial" pitchFamily="34" charset="0"/>
                <a:ea typeface="Arial" pitchFamily="34" charset="-122"/>
                <a:cs typeface="Arial" pitchFamily="34" charset="-120"/>
              </a:rPr>
              <a:t>THE ASK</a:t>
            </a:r>
            <a:endParaRPr lang="en-US" sz="1000" dirty="0"/>
          </a:p>
        </p:txBody>
      </p:sp>
      <p:sp>
        <p:nvSpPr>
          <p:cNvPr id="7" name="Text 4"/>
          <p:cNvSpPr/>
          <p:nvPr/>
        </p:nvSpPr>
        <p:spPr>
          <a:xfrm>
            <a:off x="2052346" y="3832920"/>
            <a:ext cx="5039308" cy="133350"/>
          </a:xfrm>
          <a:prstGeom prst="rect">
            <a:avLst/>
          </a:prstGeom>
          <a:noFill/>
          <a:ln/>
        </p:spPr>
        <p:txBody>
          <a:bodyPr wrap="square" lIns="0" tIns="0" rIns="0" bIns="0" rtlCol="0" anchor="t"/>
          <a:lstStyle/>
          <a:p>
            <a:pPr algn="ctr" indent="0" marL="0">
              <a:lnSpc>
                <a:spcPts val="1050"/>
              </a:lnSpc>
              <a:spcBef>
                <a:spcPts val="600"/>
              </a:spcBef>
              <a:buNone/>
            </a:pPr>
            <a:r>
              <a:rPr lang="en-US" sz="750" dirty="0">
                <a:solidFill>
                  <a:srgbClr val="A89E8F"/>
                </a:solidFill>
                <a:latin typeface="Arial" pitchFamily="34" charset="0"/>
                <a:ea typeface="Arial" pitchFamily="34" charset="-122"/>
                <a:cs typeface="Arial" pitchFamily="34" charset="-120"/>
              </a:rPr>
              <a:t>One specific sentence. The raise and what it buys, the introductions you want, or the pilot you want run.</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Argo, Final Demo Day</dc:title>
  <dc:subject>Photoshop for Writing: d/acc for how we write, speak and think</dc:subject>
  <dc:creator>Konrad Gnat</dc:creator>
  <cp:lastModifiedBy>Konrad Gnat</cp:lastModifiedBy>
  <cp:revision>1</cp:revision>
  <dcterms:created xsi:type="dcterms:W3CDTF">2026-08-14T07:51:51Z</dcterms:created>
  <dcterms:modified xsi:type="dcterms:W3CDTF">2026-08-14T07:51:51Z</dcterms:modified>
</cp:coreProperties>
</file>